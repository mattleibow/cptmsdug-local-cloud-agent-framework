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0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265615" y="54864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📱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10180015" y="73152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10911535" y="502920"/>
            <a:ext cx="1097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822960" y="20116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 TOWN MS DEVELOPER USER GROUP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24688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Unifying</a:t>
            </a:r>
            <a:endParaRPr lang="en-US" sz="6400" dirty="0"/>
          </a:p>
        </p:txBody>
      </p:sp>
      <p:sp>
        <p:nvSpPr>
          <p:cNvPr id="8" name="Text 6"/>
          <p:cNvSpPr/>
          <p:nvPr/>
        </p:nvSpPr>
        <p:spPr>
          <a:xfrm>
            <a:off x="822960" y="33832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B71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Local </a:t>
            </a:r>
            <a:pPr indent="0" marL="0">
              <a:buNone/>
            </a:pPr>
            <a:r>
              <a:rPr lang="en-US" sz="6400" b="1" dirty="0">
                <a:solidFill>
                  <a:srgbClr val="CFCBE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</a:t>
            </a:r>
            <a:pPr indent="0" marL="0">
              <a:buNone/>
            </a:pPr>
            <a:r>
              <a:rPr lang="en-US" sz="6400" b="1" dirty="0">
                <a:solidFill>
                  <a:srgbClr val="6366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Cloud </a:t>
            </a:r>
            <a:pPr indent="0" marL="0">
              <a:buNone/>
            </a:pPr>
            <a:r>
              <a:rPr lang="en-US" sz="64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</a:t>
            </a:r>
            <a:endParaRPr lang="en-US" sz="6400" dirty="0"/>
          </a:p>
        </p:txBody>
      </p:sp>
      <p:sp>
        <p:nvSpPr>
          <p:cNvPr id="9" name="Text 7"/>
          <p:cNvSpPr/>
          <p:nvPr/>
        </p:nvSpPr>
        <p:spPr>
          <a:xfrm>
            <a:off x="822960" y="44348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CFCBE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with the Microsoft Agent Framework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822960" y="58521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Matthew Leibowitz</a:t>
            </a:r>
            <a:pPr indent="0" marL="0">
              <a:buNone/>
            </a:pPr>
            <a:r>
              <a:rPr lang="en-US" sz="160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Software Engineer @ Microsoft   ·   </a:t>
            </a:r>
            <a:pPr indent="0" marL="0">
              <a:buNone/>
            </a:pPr>
            <a:r>
              <a:rPr lang="en-US" sz="16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THE SPEAKER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Hi, I'm Matthew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3291840" cy="3291840"/>
          </a:xfrm>
          <a:prstGeom prst="ellipse">
            <a:avLst/>
          </a:prstGeom>
          <a:solidFill>
            <a:srgbClr val="1E1B4B"/>
          </a:solidFill>
          <a:ln w="50800">
            <a:solidFill>
              <a:srgbClr val="FB718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011680"/>
            <a:ext cx="329184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ML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4572000" y="2103120"/>
            <a:ext cx="6858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Matthew Leibowitz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4572000" y="274320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Engineer at Microsoft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0" y="3584448"/>
            <a:ext cx="320040" cy="320040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0" y="3584448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074920" y="352044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  </a:t>
            </a:r>
            <a:pPr indent="0" marL="0">
              <a:buNone/>
            </a:pPr>
            <a:r>
              <a:rPr lang="en-US" sz="20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0" y="4224528"/>
            <a:ext cx="320040" cy="32004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0" y="4224528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74920" y="416052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/ Twitter   </a:t>
            </a:r>
            <a:pPr indent="0" marL="0">
              <a:buNone/>
            </a:pPr>
            <a:r>
              <a:rPr lang="en-US" sz="20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0" y="4864608"/>
            <a:ext cx="320040" cy="320040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0" y="4864608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074920" y="480060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   </a:t>
            </a:r>
            <a:pPr indent="0" marL="0">
              <a:buNone/>
            </a:pPr>
            <a:r>
              <a:rPr lang="en-US" sz="20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0180015" y="502920"/>
            <a:ext cx="292608" cy="292608"/>
          </a:xfrm>
          <a:prstGeom prst="roundRect">
            <a:avLst>
              <a:gd name="adj" fmla="val 15625"/>
            </a:avLst>
          </a:prstGeom>
          <a:ln w="19050">
            <a:solidFill>
              <a:srgbClr val="6366F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472623" y="457200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0893247" y="429768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16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one model is never enough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AI deployment trades off three things. No single tier wins all three.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474720" y="2514600"/>
            <a:ext cx="1607058" cy="2622042"/>
          </a:xfrm>
          <a:prstGeom prst="line">
            <a:avLst/>
          </a:prstGeom>
          <a:noFill/>
          <a:ln w="25400">
            <a:solidFill>
              <a:srgbClr val="E5E1F5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 flipH="1">
            <a:off x="1867662" y="5136642"/>
            <a:ext cx="3214116" cy="0"/>
          </a:xfrm>
          <a:prstGeom prst="line">
            <a:avLst/>
          </a:prstGeom>
          <a:noFill/>
          <a:ln w="25400">
            <a:solidFill>
              <a:srgbClr val="E5E1F5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 flipV="1">
            <a:off x="1867662" y="2514600"/>
            <a:ext cx="1607058" cy="2622042"/>
          </a:xfrm>
          <a:prstGeom prst="line">
            <a:avLst/>
          </a:prstGeom>
          <a:noFill/>
          <a:ln w="25400">
            <a:solidFill>
              <a:srgbClr val="E5E1F5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3063240" y="2103120"/>
            <a:ext cx="822960" cy="82296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94560" y="29718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011680" y="32918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never leaves the device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70298" y="4725162"/>
            <a:ext cx="822960" cy="822960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01618" y="5593842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618738" y="5913882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response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456182" y="4725162"/>
            <a:ext cx="822960" cy="822960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87502" y="5593842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04622" y="5913882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 reasoning, scale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743200" y="397764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6B6B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Pick 2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766560" y="2377440"/>
            <a:ext cx="4937760" cy="3474720"/>
          </a:xfrm>
          <a:prstGeom prst="roundRect">
            <a:avLst>
              <a:gd name="adj" fmla="val 3947"/>
            </a:avLst>
          </a:prstGeom>
          <a:solidFill>
            <a:srgbClr val="0F0A2E"/>
          </a:solidFill>
          <a:ln w="12700">
            <a:solidFill>
              <a:srgbClr val="0F0A2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40880" y="2743200"/>
            <a:ext cx="4572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“The interesting apps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7040880" y="3291840"/>
            <a:ext cx="4572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B71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 in the seams.”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7040880" y="411480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apps combine multiple models across multiple environments. The job is no longer “pick a model” — it's orchestrating the right one for each task.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10180015" y="502920"/>
            <a:ext cx="292608" cy="292608"/>
          </a:xfrm>
          <a:prstGeom prst="roundRect">
            <a:avLst>
              <a:gd name="adj" fmla="val 15625"/>
            </a:avLst>
          </a:prstGeom>
          <a:ln w="1905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472623" y="457200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893247" y="429768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3  ·  START WITH WHAT YOU KNOW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Cloud AI — the frontier brain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2000" dirty="0"/>
          </a:p>
        </p:txBody>
      </p:sp>
      <p:sp>
        <p:nvSpPr>
          <p:cNvPr id="5" name="Text 3"/>
          <p:cNvSpPr/>
          <p:nvPr/>
        </p:nvSpPr>
        <p:spPr>
          <a:xfrm>
            <a:off x="4937760" y="173736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937760" y="2194560"/>
            <a:ext cx="228600" cy="411480"/>
          </a:xfrm>
          <a:prstGeom prst="roundRect">
            <a:avLst>
              <a:gd name="adj" fmla="val 20000"/>
            </a:avLst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303520" y="219456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OpenAI / AI Foundry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503920" y="219456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GPT-4o, GPT-5, o-series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937760" y="2788920"/>
            <a:ext cx="228600" cy="411480"/>
          </a:xfrm>
          <a:prstGeom prst="roundRect">
            <a:avLst>
              <a:gd name="adj" fmla="val 20000"/>
            </a:avLst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03520" y="278892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Bedrock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503920" y="278892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Nova, Claude, Llama, Mistral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937760" y="3383280"/>
            <a:ext cx="228600" cy="411480"/>
          </a:xfrm>
          <a:prstGeom prst="roundRect">
            <a:avLst>
              <a:gd name="adj" fmla="val 20000"/>
            </a:avLst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03520" y="3383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Vertex AI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503920" y="3383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Pro / Flash, Model Garden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937760" y="4206240"/>
            <a:ext cx="32918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6366F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120640" y="429768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120640" y="4617720"/>
            <a:ext cx="29260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 reasoning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Massive context windows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Multimodal · tool calling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 frontier models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503920" y="4206240"/>
            <a:ext cx="32918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FB718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0" y="429768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TAB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686800" y="4617720"/>
            <a:ext cx="29260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 per million tokens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latency · jitter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leaves the device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connectivity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10180015" y="502920"/>
            <a:ext cx="292608" cy="292608"/>
          </a:xfrm>
          <a:prstGeom prst="roundRect">
            <a:avLst>
              <a:gd name="adj" fmla="val 15625"/>
            </a:avLst>
          </a:prstGeom>
          <a:ln w="19050">
            <a:solidFill>
              <a:srgbClr val="6366F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472623" y="457200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0893247" y="429768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16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0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400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8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 01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128016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Calling the Cloud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822960" y="24688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direct Azure OpenAI call — the baseline everyone already ships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3200400"/>
            <a:ext cx="6858000" cy="3108960"/>
          </a:xfrm>
          <a:prstGeom prst="roundRect">
            <a:avLst>
              <a:gd name="adj" fmla="val 2941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3383280"/>
            <a:ext cx="64922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client </a:t>
            </a:r>
            <a:pPr indent="0" marL="0">
              <a:buNone/>
            </a:pPr>
            <a:r>
              <a:rPr lang="en-US" sz="13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AzureOpenAIClient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3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Uri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endpoint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3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DefaultAzureCredential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chat </a:t>
            </a:r>
            <a:pPr indent="0" marL="0">
              <a:buNone/>
            </a:pPr>
            <a:r>
              <a:rPr lang="en-US" sz="13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client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GetChatClient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3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"gpt-4.1"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response </a:t>
            </a:r>
            <a:pPr indent="0" marL="0">
              <a:buNone/>
            </a:pPr>
            <a:r>
              <a:rPr lang="en-US" sz="13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3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chat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CompleteChatAsync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3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"Summarise the agenda for today."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WriteLine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Content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buNone/>
            </a:pPr>
            <a:r>
              <a:rPr lang="en-US" sz="1300" dirty="0">
                <a:solidFill>
                  <a:srgbClr val="F472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3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046720" y="3200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FOR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046720" y="3611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Latency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046720" y="38862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round-trip — feel it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046720" y="42519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Connectivity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046720" y="45262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Toggle Wi-Fi off and watch it fail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046720" y="48920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🧠 Quality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046720" y="51663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Frontier-class reasoning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046720" y="55321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💸 Cost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046720" y="58064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token is metered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0180015" y="502920"/>
            <a:ext cx="292608" cy="292608"/>
          </a:xfrm>
          <a:prstGeom prst="roundRect">
            <a:avLst>
              <a:gd name="adj" fmla="val 15625"/>
            </a:avLst>
          </a:prstGeom>
          <a:ln w="19050">
            <a:solidFill>
              <a:srgbClr val="6366F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472623" y="457200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0893247" y="429768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1  ·  THE SURPRISE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OS already ships an LLM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Vendor-managed, shared across apps, zero cost, fully offline. ~3B-class models.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370332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286000"/>
            <a:ext cx="3703320" cy="164592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60604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22960" y="292608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Apple Intelligence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22960" y="347472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FoundationModels (Swift)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22960" y="3931920"/>
            <a:ext cx="3154680" cy="0"/>
          </a:xfrm>
          <a:prstGeom prst="line">
            <a:avLst/>
          </a:prstGeom>
          <a:noFill/>
          <a:ln w="12700">
            <a:solidFill>
              <a:srgbClr val="E5E1F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4069080"/>
            <a:ext cx="31546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 26 · macOS Tahoe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~3B params · multilingual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LoRA adapters · tool calls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22960" y="544068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shipped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389120" y="2286000"/>
            <a:ext cx="370332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89120" y="2286000"/>
            <a:ext cx="3703320" cy="16459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63440" y="260604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663440" y="292608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Phi Silica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4663440" y="347472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Windows AI APIs (.NET)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663440" y="3931920"/>
            <a:ext cx="3154680" cy="0"/>
          </a:xfrm>
          <a:prstGeom prst="line">
            <a:avLst/>
          </a:prstGeom>
          <a:noFill/>
          <a:ln w="12700">
            <a:solidFill>
              <a:srgbClr val="E5E1F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63440" y="4069080"/>
            <a:ext cx="31546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Copilot+ PCs · NPU-accelerated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~3.3B Phi-3.5-class model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Summarize · rewrite · generate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663440" y="544068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🔜  maui-labs PR #178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229600" y="2286000"/>
            <a:ext cx="370332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29600" y="2286000"/>
            <a:ext cx="3703320" cy="164592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503920" y="260604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503920" y="292608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ML Kit + Gemini Nano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8503920" y="347472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ML Kit (Kotlin/Java)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503920" y="3931920"/>
            <a:ext cx="3154680" cy="0"/>
          </a:xfrm>
          <a:prstGeom prst="line">
            <a:avLst/>
          </a:prstGeom>
          <a:noFill/>
          <a:ln w="12700">
            <a:solidFill>
              <a:srgbClr val="E5E1F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503920" y="4069080"/>
            <a:ext cx="31546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· AICore service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Compact Gemini Nano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Summarize · proofread · rewrite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8503920" y="544068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🔬  .NET wrapper under investigation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48640" y="5989320"/>
            <a:ext cx="11094415" cy="502920"/>
          </a:xfrm>
          <a:prstGeom prst="roundRect">
            <a:avLst>
              <a:gd name="adj" fmla="val 14545"/>
            </a:avLst>
          </a:prstGeom>
          <a:solidFill>
            <a:srgbClr val="0F0A2E"/>
          </a:solidFill>
          <a:ln w="12700">
            <a:solidFill>
              <a:srgbClr val="0F0A2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5989320"/>
            <a:ext cx="1109441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for .NET MAUI:  </a:t>
            </a:r>
            <a:pPr algn="ctr" indent="0" marL="0">
              <a:buNone/>
            </a:pPr>
            <a:r>
              <a:rPr lang="en-US" sz="1300" b="1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Microsoft.Maui.Essentials.AI</a:t>
            </a:r>
            <a:pPr algn="ctr" indent="0" marL="0">
              <a:buNone/>
            </a:pPr>
            <a:r>
              <a:rPr lang="en-US" sz="13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one IChatClient shape, Apple today · Phi Silica in progress · Gemini under investigation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10180015" y="502920"/>
            <a:ext cx="292608" cy="292608"/>
          </a:xfrm>
          <a:prstGeom prst="roundRect">
            <a:avLst>
              <a:gd name="adj" fmla="val 15625"/>
            </a:avLst>
          </a:prstGeom>
          <a:ln w="19050">
            <a:solidFill>
              <a:srgbClr val="6366F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472623" y="457200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10893247" y="429768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0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400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8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 02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128016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Living on the Edge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822960" y="24688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Intelligence running 100% on this Mac — no network, no key, no bill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3200400"/>
            <a:ext cx="6858000" cy="3108960"/>
          </a:xfrm>
          <a:prstGeom prst="roundRect">
            <a:avLst>
              <a:gd name="adj" fmla="val 2941"/>
            </a:avLst>
          </a:prstGeom>
          <a:solidFill>
            <a:srgbClr val="1E1B4B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3383280"/>
            <a:ext cx="64922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Maui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Essentials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Extensions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IChatClient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chat </a:t>
            </a:r>
            <a:pPr indent="0" marL="0">
              <a:buNone/>
            </a:pPr>
            <a:r>
              <a:rPr lang="en-US" sz="12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AppleIntelligenceChatClient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response </a:t>
            </a:r>
            <a:pPr indent="0" marL="0">
              <a:buNone/>
            </a:pPr>
            <a:r>
              <a:rPr lang="en-US" sz="12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chat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GetResponseAsync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"Summarise the agenda for today."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WriteLine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✈️  Works in airplane mode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🆓  No API key, no per-token cost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🔒  Data never leaves the device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046720" y="3200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FOR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046720" y="3611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Instant first token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046720" y="38862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round-trip — sub-second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046720" y="42519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Airplane mode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046720" y="45262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Disconnect — still works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046720" y="48920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📏 Tiny but capable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046720" y="51663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~3B params on the NPU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046720" y="55321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The limit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046720" y="58064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context · narrow skills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0180015" y="502920"/>
            <a:ext cx="292608" cy="292608"/>
          </a:xfrm>
          <a:prstGeom prst="roundRect">
            <a:avLst>
              <a:gd name="adj" fmla="val 15625"/>
            </a:avLst>
          </a:prstGeom>
          <a:ln w="19050">
            <a:solidFill>
              <a:srgbClr val="FB718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472623" y="457200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0893247" y="429768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2  ·  THE PRACTICAL MIDDLE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Bring your own local model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forgotten tier — cloud-class capability with local-class privacy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3703320" cy="393192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25400">
            <a:solidFill>
              <a:srgbClr val="FB718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51460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51460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" y="297180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Foundry Local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22960" y="352044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Cloud-grade LLMs, local host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4023360"/>
            <a:ext cx="31546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Microsoft's runtime for running Phi, Llama, Qwen and friends on the user's box. .NET-friendly, ONNX-backed, GPU/NPU accelerated.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89120" y="2286000"/>
            <a:ext cx="3703320" cy="393192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25400">
            <a:solidFill>
              <a:srgbClr val="6366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63440" y="251460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251460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663440" y="297180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ONNX Runtime GenAI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663440" y="352044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your own model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663440" y="4023360"/>
            <a:ext cx="31546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Cross-platform C# / native inference. Bring any ONNX-converted model — tiny custom classifiers to multi-billion-param LLMs.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229600" y="2286000"/>
            <a:ext cx="3703320" cy="393192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25400">
            <a:solidFill>
              <a:srgbClr val="FBBF2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03920" y="251460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03920" y="251460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UNDERRATED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503920" y="297180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Tiny Bespoke Models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8503920" y="352044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Right-sized for the task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503920" y="4023360"/>
            <a:ext cx="31546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Sometimes a 50MB classifier beats a 3B LLM. Embeddings, intent detection, structured extraction — fast, cheap, embarrassingly good.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10180015" y="502920"/>
            <a:ext cx="292608" cy="292608"/>
          </a:xfrm>
          <a:prstGeom prst="roundRect">
            <a:avLst>
              <a:gd name="adj" fmla="val 15625"/>
            </a:avLst>
          </a:prstGeom>
          <a:ln w="19050">
            <a:solidFill>
              <a:srgbClr val="6366F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472623" y="457200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0893247" y="429768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16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0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400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800" kern="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 03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128016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Big Brain, Locally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822960" y="24688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Local hosting a Phi-class LLM on this laptop — OpenAI-compatible endpoint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3200400"/>
            <a:ext cx="6858000" cy="3108960"/>
          </a:xfrm>
          <a:prstGeom prst="roundRect">
            <a:avLst>
              <a:gd name="adj" fmla="val 2941"/>
            </a:avLst>
          </a:prstGeom>
          <a:solidFill>
            <a:srgbClr val="1E1B4B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3383280"/>
            <a:ext cx="64922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Start a local model from the CLI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foundry model run phi-4-mini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Manager owns the dynamic endpoint + key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manager </a:t>
            </a:r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FoundryLocalManager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StartModelAsync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"phi-4-mini"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client </a:t>
            </a:r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OpenAIClient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ApiKeyCredential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manager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ApiKey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OpenAIClientOptions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Endpoint </a:t>
            </a:r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manager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Endpoint 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chat </a:t>
            </a:r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client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GetChatClient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"phi-4-mini"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046720" y="3200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FOR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046720" y="3611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🧠 Real reasoning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046720" y="38862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Multi-billion-param model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046720" y="42519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Stays on device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046720" y="45262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data egress, no API key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046720" y="48920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🔌 OpenAI-compatible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046720" y="51663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SDK, swap the URL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046720" y="55321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💾 The tradeoff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046720" y="58064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Disk + RAM + warm-up time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0180015" y="502920"/>
            <a:ext cx="292608" cy="292608"/>
          </a:xfrm>
          <a:prstGeom prst="roundRect">
            <a:avLst>
              <a:gd name="adj" fmla="val 15625"/>
            </a:avLst>
          </a:prstGeom>
          <a:ln w="19050">
            <a:solidFill>
              <a:srgbClr val="FBBF2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472623" y="457200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0893247" y="429768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UNIFIER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Microsoft Agent Framework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programming model. Three tiers. Swap the brain — keep the code.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2377440"/>
            <a:ext cx="27432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25400">
            <a:solidFill>
              <a:srgbClr val="FB718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377440"/>
            <a:ext cx="137160" cy="82296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4688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Local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278892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· Phi Silica · Gemini Nano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3337560"/>
            <a:ext cx="27432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25400">
            <a:solidFill>
              <a:srgbClr val="FBBF2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3337560"/>
            <a:ext cx="137160" cy="82296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342900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BYO Local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22960" y="374904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Local · ONNX · custom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27432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25400">
            <a:solidFill>
              <a:srgbClr val="6366F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4297680"/>
            <a:ext cx="137160" cy="82296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438912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22960" y="47091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OpenAI · Bedrock · Vertex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 rot="5400000">
            <a:off x="3337560" y="2624328"/>
            <a:ext cx="365760" cy="329184"/>
          </a:xfrm>
          <a:prstGeom prst="rightTriangle">
            <a:avLst/>
          </a:prstGeom>
          <a:solidFill>
            <a:srgbClr val="E5E1F5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5400000">
            <a:off x="3337560" y="3584448"/>
            <a:ext cx="365760" cy="329184"/>
          </a:xfrm>
          <a:prstGeom prst="rightTriangle">
            <a:avLst/>
          </a:prstGeom>
          <a:solidFill>
            <a:srgbClr val="E5E1F5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rot="5400000">
            <a:off x="3337560" y="4544568"/>
            <a:ext cx="365760" cy="329184"/>
          </a:xfrm>
          <a:prstGeom prst="rightTriangle">
            <a:avLst/>
          </a:prstGeom>
          <a:solidFill>
            <a:srgbClr val="E5E1F5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840480" y="2286000"/>
            <a:ext cx="5029200" cy="3063240"/>
          </a:xfrm>
          <a:prstGeom prst="roundRect">
            <a:avLst>
              <a:gd name="adj" fmla="val 4478"/>
            </a:avLst>
          </a:prstGeom>
          <a:solidFill>
            <a:srgbClr val="0F0A2E"/>
          </a:solidFill>
          <a:ln w="12700">
            <a:solidFill>
              <a:srgbClr val="0F0A2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840480" y="2560320"/>
            <a:ext cx="5029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AIAgent</a:t>
            </a:r>
            <a:endParaRPr lang="en-US" sz="4000" dirty="0"/>
          </a:p>
        </p:txBody>
      </p:sp>
      <p:sp>
        <p:nvSpPr>
          <p:cNvPr id="22" name="Text 20"/>
          <p:cNvSpPr/>
          <p:nvPr/>
        </p:nvSpPr>
        <p:spPr>
          <a:xfrm>
            <a:off x="3840480" y="33375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AgentThread  ·  Tools  ·  Workflows  ·  Streaming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846320" y="3840480"/>
            <a:ext cx="3017520" cy="0"/>
          </a:xfrm>
          <a:prstGeom prst="line">
            <a:avLst/>
          </a:prstGeom>
          <a:noFill/>
          <a:ln w="12700">
            <a:solidFill>
              <a:srgbClr val="FB718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840480" y="3977640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ChatClientAgent  ·  WorkflowAgent</a:t>
            </a:r>
            <a:endParaRPr lang="en-US" sz="13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FunctionInvokingChatClient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840480" y="493776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Microsoft.Agents.AI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9235440" y="2404872"/>
            <a:ext cx="182880" cy="18288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509760" y="2331720"/>
            <a:ext cx="22247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code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9509760" y="2651760"/>
            <a:ext cx="2224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the IChatClient, keep your agent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9235440" y="3118104"/>
            <a:ext cx="182880" cy="18288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509760" y="3044952"/>
            <a:ext cx="22247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Stateful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9509760" y="3364992"/>
            <a:ext cx="2224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AgentThread persists conversation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9235440" y="3831336"/>
            <a:ext cx="182880" cy="18288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509760" y="3758184"/>
            <a:ext cx="22247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Tool-aware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9509760" y="4078224"/>
            <a:ext cx="2224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Source-generated AITools (no reflection)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9235440" y="4544568"/>
            <a:ext cx="182880" cy="18288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509760" y="4471416"/>
            <a:ext cx="222473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9509760" y="4791456"/>
            <a:ext cx="2224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Token-by-token via IAsyncEnumerable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48640" y="55778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rgbClr val="FB71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📐 The provider changes. The agent code does not.</a:t>
            </a:r>
            <a:endParaRPr lang="en-US" sz="2000" dirty="0"/>
          </a:p>
        </p:txBody>
      </p:sp>
      <p:sp>
        <p:nvSpPr>
          <p:cNvPr id="39" name="Shape 37"/>
          <p:cNvSpPr/>
          <p:nvPr/>
        </p:nvSpPr>
        <p:spPr>
          <a:xfrm>
            <a:off x="10180015" y="502920"/>
            <a:ext cx="292608" cy="292608"/>
          </a:xfrm>
          <a:prstGeom prst="roundRect">
            <a:avLst>
              <a:gd name="adj" fmla="val 15625"/>
            </a:avLst>
          </a:prstGeom>
          <a:ln w="19050">
            <a:solidFill>
              <a:srgbClr val="6366F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472623" y="457200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1800" dirty="0"/>
          </a:p>
        </p:txBody>
      </p:sp>
      <p:sp>
        <p:nvSpPr>
          <p:cNvPr id="41" name="Text 39"/>
          <p:cNvSpPr/>
          <p:nvPr/>
        </p:nvSpPr>
        <p:spPr>
          <a:xfrm>
            <a:off x="10893247" y="429768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200" dirty="0"/>
          </a:p>
        </p:txBody>
      </p:sp>
      <p:sp>
        <p:nvSpPr>
          <p:cNvPr id="42" name="Text 4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16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LINES OF CODE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to use it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an IChatClient — any tier — and wrap it as an agent.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194560"/>
            <a:ext cx="7680960" cy="4023360"/>
          </a:xfrm>
          <a:prstGeom prst="roundRect">
            <a:avLst>
              <a:gd name="adj" fmla="val 2727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331720"/>
            <a:ext cx="722376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1. Take any IChatClient — Apple, Foundry Local, Cloud…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IChatClient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client </a:t>
            </a:r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AppleIntelligenceChatClient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2. Wrap it as an agent (with optional tools)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AIAgent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 </a:t>
            </a:r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client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CreateAIAgent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instructions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"You are a travel guide."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..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TravelToolContext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Default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3. Keep a thread for conversation state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AgentThread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thread </a:t>
            </a:r>
            <a:pPr indent="0" marL="0">
              <a:buNone/>
            </a:pPr>
            <a:r>
              <a:rPr lang="en-US" sz="11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GetNewThread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4. Stream the response, token by token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foreach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update </a:t>
            </a:r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RunStreamingAsync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prompt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thread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Console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update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8458200" y="2194560"/>
            <a:ext cx="3276295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641080" y="2377440"/>
            <a:ext cx="502920" cy="50292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41080" y="23774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281160" y="2331720"/>
            <a:ext cx="23618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Pluggable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281160" y="2651760"/>
            <a:ext cx="23618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IChatClient — Apple, Foundry Local, Azure OpenAI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458200" y="3200400"/>
            <a:ext cx="3276295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641080" y="3383280"/>
            <a:ext cx="502920" cy="502920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41080" y="33832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281160" y="3337560"/>
            <a:ext cx="23618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Tool-aware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9281160" y="3657600"/>
            <a:ext cx="23618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[ExportAIFunction] generates AITool descriptors at compile time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458200" y="4206240"/>
            <a:ext cx="3276295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641080" y="4389120"/>
            <a:ext cx="502920" cy="502920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41080" y="43891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9281160" y="4343400"/>
            <a:ext cx="23618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Stateful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281160" y="4663440"/>
            <a:ext cx="23618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AgentThread carries history across runs — no manual list-juggling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58200" y="5212080"/>
            <a:ext cx="3276295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641080" y="5394960"/>
            <a:ext cx="502920" cy="50292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641080" y="53949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281160" y="5349240"/>
            <a:ext cx="23618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281160" y="5669280"/>
            <a:ext cx="23618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RunStreamingAsync yields AgentRunResponseUpdate — wire to your UI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0180015" y="502920"/>
            <a:ext cx="292608" cy="292608"/>
          </a:xfrm>
          <a:prstGeom prst="roundRect">
            <a:avLst>
              <a:gd name="adj" fmla="val 15625"/>
            </a:avLst>
          </a:prstGeom>
          <a:ln w="19050">
            <a:solidFill>
              <a:srgbClr val="6366F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472623" y="457200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0893247" y="429768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16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0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342900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429000"/>
            <a:ext cx="365760" cy="342900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50292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800" kern="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 04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972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Workflow of Agents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822960" y="187452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workflows compose agents — local privacy on the bookends, cloud reasoning in the middle.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2468880"/>
            <a:ext cx="2377440" cy="548640"/>
          </a:xfrm>
          <a:prstGeom prst="roundRect">
            <a:avLst>
              <a:gd name="adj" fmla="val 50000"/>
            </a:avLst>
          </a:prstGeom>
          <a:solidFill>
            <a:srgbClr val="1E1B4B"/>
          </a:solidFill>
          <a:ln w="25400">
            <a:solidFill>
              <a:srgbClr val="CFCB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46888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👤  </a:t>
            </a:r>
            <a:pPr algn="ctr"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pPr algn="ctr" indent="0" marL="0">
              <a:buNone/>
            </a:pPr>
            <a:r>
              <a:rPr lang="en-US" sz="11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input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246120" y="2743200"/>
            <a:ext cx="253898" cy="0"/>
          </a:xfrm>
          <a:prstGeom prst="line">
            <a:avLst/>
          </a:prstGeom>
          <a:noFill/>
          <a:ln w="25400">
            <a:solidFill>
              <a:srgbClr val="FB718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5400000">
            <a:off x="3362858" y="2670048"/>
            <a:ext cx="164592" cy="146304"/>
          </a:xfrm>
          <a:prstGeom prst="rightTriangl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545738" y="2468880"/>
            <a:ext cx="2377440" cy="548640"/>
          </a:xfrm>
          <a:prstGeom prst="roundRect">
            <a:avLst>
              <a:gd name="adj" fmla="val 50000"/>
            </a:avLst>
          </a:prstGeom>
          <a:solidFill>
            <a:srgbClr val="1E1B4B"/>
          </a:solidFill>
          <a:ln w="25400">
            <a:solidFill>
              <a:srgbClr val="FB718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37178" y="246888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📱  </a:t>
            </a:r>
            <a:pPr algn="ctr"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</a:t>
            </a:r>
            <a:pPr algn="ctr" indent="0" marL="0">
              <a:buNone/>
            </a:pPr>
            <a:r>
              <a:rPr lang="en-US" sz="11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Apple Intelligence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968898" y="2743200"/>
            <a:ext cx="253898" cy="0"/>
          </a:xfrm>
          <a:prstGeom prst="line">
            <a:avLst/>
          </a:prstGeom>
          <a:noFill/>
          <a:ln w="25400">
            <a:solidFill>
              <a:srgbClr val="FB718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rot="5400000">
            <a:off x="6085637" y="2670048"/>
            <a:ext cx="164592" cy="146304"/>
          </a:xfrm>
          <a:prstGeom prst="rightTriangl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68517" y="2468880"/>
            <a:ext cx="2377440" cy="548640"/>
          </a:xfrm>
          <a:prstGeom prst="roundRect">
            <a:avLst>
              <a:gd name="adj" fmla="val 50000"/>
            </a:avLst>
          </a:prstGeom>
          <a:solidFill>
            <a:srgbClr val="1E1B4B"/>
          </a:solidFill>
          <a:ln w="25400">
            <a:solidFill>
              <a:srgbClr val="6366F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59957" y="246888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☁️  </a:t>
            </a:r>
            <a:pPr algn="ctr"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</a:t>
            </a:r>
            <a:pPr algn="ctr" indent="0" marL="0">
              <a:buNone/>
            </a:pPr>
            <a:r>
              <a:rPr lang="en-US" sz="11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Azure OpenAI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691677" y="2743200"/>
            <a:ext cx="253898" cy="0"/>
          </a:xfrm>
          <a:prstGeom prst="line">
            <a:avLst/>
          </a:prstGeom>
          <a:noFill/>
          <a:ln w="25400">
            <a:solidFill>
              <a:srgbClr val="FB718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5400000">
            <a:off x="8808415" y="2670048"/>
            <a:ext cx="164592" cy="146304"/>
          </a:xfrm>
          <a:prstGeom prst="rightTriangl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991295" y="2468880"/>
            <a:ext cx="2377440" cy="548640"/>
          </a:xfrm>
          <a:prstGeom prst="roundRect">
            <a:avLst>
              <a:gd name="adj" fmla="val 50000"/>
            </a:avLst>
          </a:prstGeom>
          <a:solidFill>
            <a:srgbClr val="1E1B4B"/>
          </a:solidFill>
          <a:ln w="25400">
            <a:solidFill>
              <a:srgbClr val="CFCBE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082735" y="246888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👤  </a:t>
            </a:r>
            <a:pPr algn="ctr"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pPr algn="ctr" indent="0" marL="0">
              <a:buNone/>
            </a:pPr>
            <a:r>
              <a:rPr lang="en-US" sz="11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answer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822960" y="3291840"/>
            <a:ext cx="10911535" cy="3200400"/>
          </a:xfrm>
          <a:prstGeom prst="roundRect">
            <a:avLst>
              <a:gd name="adj" fmla="val 2857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51560" y="3456432"/>
            <a:ext cx="10454335" cy="2880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📱  Local — Apple Intelligence, on the device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AIAgent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triage </a:t>
            </a:r>
            <a:pPr indent="0" marL="0">
              <a:buNone/>
            </a:pPr>
            <a:r>
              <a:rPr lang="en-US" sz="12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AppleIntelligenceChatClient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CreateAIAgent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"Strip personal info. Return only topic + intent."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"triage"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☁️  Cloud — Azure OpenAI, frontier reasoning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AIAgent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expert </a:t>
            </a:r>
            <a:pPr indent="0" marL="0">
              <a:buNone/>
            </a:pPr>
            <a:r>
              <a:rPr lang="en-US" sz="12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AzureOpenAIClient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endpoint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DefaultAzureCredential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GetChatClient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"gpt-4.1"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AsIChatClient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CreateAIAgent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"Answer with depth and current context."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"expert"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B88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🔗  MAF workflow — pipe local → cloud, expose as an agent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workflow </a:t>
            </a:r>
            <a:pPr indent="0" marL="0">
              <a:buNone/>
            </a:pPr>
            <a:r>
              <a:rPr lang="en-US" sz="1200" dirty="0">
                <a:solidFill>
                  <a:srgbClr val="CFCB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AgentWorkflowBuilder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BuildSequential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"local-then-cloud"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triage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expert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AsAgent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foreach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update </a:t>
            </a:r>
            <a:pPr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workflow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RunStreamingAsync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userInput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    Console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86EF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update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200" dirty="0">
                <a:solidFill>
                  <a:srgbClr val="B8B5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WITH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Standing on the shoulders of maui-labs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you saw runs on experimental packages from github.com/dotnet/maui-labs — try them, file issues, send PRs.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240280"/>
            <a:ext cx="553212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240280"/>
            <a:ext cx="137160" cy="173736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423160"/>
            <a:ext cx="4983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Microsoft.Maui.Essentials.AI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68680" y="2834640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11.0.0-preview.4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68680" y="3200400"/>
            <a:ext cx="4983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Wraps Apple Intelligence as a standard IChatClient — same code path as your cloud client. No key, no cloud, works offline.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355080" y="2240280"/>
            <a:ext cx="553212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55080" y="2240280"/>
            <a:ext cx="137160" cy="173736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75120" y="2423160"/>
            <a:ext cx="4983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Microsoft.Maui.AI.Attributes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675120" y="2834640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0.1.0-preview.10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675120" y="3200400"/>
            <a:ext cx="4983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generator: decorate a C# method with [ExportAIFunction] and it becomes a strongly-typed AI tool. AOT-safe, zero reflection.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160520"/>
            <a:ext cx="553212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160520"/>
            <a:ext cx="137160" cy="173736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4343400"/>
            <a:ext cx="4983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Phi Silica  ·  PR #178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68680" y="4754880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/ in flight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68680" y="5120640"/>
            <a:ext cx="4983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Brings the same IChatClient wrapper to Windows Copilot+ PCs via Windows AI APIs. Adds Phi Silica as another local provider.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355080" y="4160520"/>
            <a:ext cx="553212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55080" y="4160520"/>
            <a:ext cx="137160" cy="173736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75120" y="4343400"/>
            <a:ext cx="4983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Microsoft.Maui.DevFlow.Agent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675120" y="4754880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0.1.0-preview.10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675120" y="5120640"/>
            <a:ext cx="4983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Playwright-for-MAUI + MCP server. AI agents (Copilot, Claude) can drive the live app — this entire app was built that way.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48640" y="60350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github.com/dotnet/maui-labs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10180015" y="502920"/>
            <a:ext cx="292608" cy="292608"/>
          </a:xfrm>
          <a:prstGeom prst="roundRect">
            <a:avLst>
              <a:gd name="adj" fmla="val 15625"/>
            </a:avLst>
          </a:prstGeom>
          <a:ln w="1905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472623" y="457200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0893247" y="429768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16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OF THUMB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choice. Your code stays the same.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There's no single right answer — pick the tier that fits the task, and let MAF handle the rest.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5410048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331720"/>
            <a:ext cx="5410048" cy="164592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651760"/>
            <a:ext cx="48614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 Local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2971800"/>
            <a:ext cx="486140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 it on the device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868680" y="3685032"/>
            <a:ext cx="164592" cy="164592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43000" y="3611880"/>
            <a:ext cx="46328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non-negotiable</a:t>
            </a:r>
            <a:pPr indent="0" marL="0">
              <a:buNone/>
            </a:pPr>
            <a:r>
              <a:rPr lang="en-US" sz="1300" dirty="0">
                <a:solidFill>
                  <a:srgbClr val="E5E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Local · BYO Local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68680" y="4187952"/>
            <a:ext cx="164592" cy="164592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43000" y="4114800"/>
            <a:ext cx="46328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/ poor network</a:t>
            </a:r>
            <a:pPr indent="0" marL="0">
              <a:buNone/>
            </a:pPr>
            <a:r>
              <a:rPr lang="en-US" sz="1300" dirty="0">
                <a:solidFill>
                  <a:srgbClr val="E5E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Local · BYO Local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68680" y="4690872"/>
            <a:ext cx="164592" cy="164592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43000" y="4617720"/>
            <a:ext cx="46328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first token</a:t>
            </a:r>
            <a:pPr indent="0" marL="0">
              <a:buNone/>
            </a:pPr>
            <a:r>
              <a:rPr lang="en-US" sz="1300" dirty="0">
                <a:solidFill>
                  <a:srgbClr val="E5E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Local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68680" y="5193792"/>
            <a:ext cx="164592" cy="164592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43000" y="5120640"/>
            <a:ext cx="46328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matters at scale</a:t>
            </a:r>
            <a:pPr indent="0" marL="0">
              <a:buNone/>
            </a:pPr>
            <a:r>
              <a:rPr lang="en-US" sz="1300" dirty="0">
                <a:solidFill>
                  <a:srgbClr val="E5E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pre/post-roll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233008" y="2331720"/>
            <a:ext cx="5410048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33008" y="2331720"/>
            <a:ext cx="5410048" cy="16459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07328" y="2651760"/>
            <a:ext cx="48614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for Cloud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507328" y="2971800"/>
            <a:ext cx="486140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Use the frontier brain</a:t>
            </a:r>
            <a:endParaRPr lang="en-US" sz="2600" dirty="0"/>
          </a:p>
        </p:txBody>
      </p:sp>
      <p:sp>
        <p:nvSpPr>
          <p:cNvPr id="21" name="Shape 19"/>
          <p:cNvSpPr/>
          <p:nvPr/>
        </p:nvSpPr>
        <p:spPr>
          <a:xfrm>
            <a:off x="6553048" y="3685032"/>
            <a:ext cx="164592" cy="164592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27368" y="3611880"/>
            <a:ext cx="46328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deep reasoning</a:t>
            </a:r>
            <a:pPr indent="0" marL="0">
              <a:buNone/>
            </a:pPr>
            <a:r>
              <a:rPr lang="en-US" sz="1300" dirty="0">
                <a:solidFill>
                  <a:srgbClr val="E5E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553048" y="4187952"/>
            <a:ext cx="164592" cy="164592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27368" y="4114800"/>
            <a:ext cx="46328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Huge context · multimodal</a:t>
            </a:r>
            <a:pPr indent="0" marL="0">
              <a:buNone/>
            </a:pPr>
            <a:r>
              <a:rPr lang="en-US" sz="1300" dirty="0">
                <a:solidFill>
                  <a:srgbClr val="E5E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553048" y="4690872"/>
            <a:ext cx="164592" cy="164592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827368" y="4617720"/>
            <a:ext cx="46328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requiring web data</a:t>
            </a:r>
            <a:pPr indent="0" marL="0">
              <a:buNone/>
            </a:pPr>
            <a:r>
              <a:rPr lang="en-US" sz="1300" dirty="0">
                <a:solidFill>
                  <a:srgbClr val="E5E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553048" y="5193792"/>
            <a:ext cx="164592" cy="164592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27368" y="5120640"/>
            <a:ext cx="463280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capability, no egress</a:t>
            </a:r>
            <a:pPr indent="0" marL="0">
              <a:buNone/>
            </a:pPr>
            <a:r>
              <a:rPr lang="en-US" sz="1300" dirty="0">
                <a:solidFill>
                  <a:srgbClr val="E5E1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BYO Local (Foundry Local)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48640" y="585216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FB71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📐  Hand-off pattern:  local triage  →  cloud reasoning  →  local rendering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10180015" y="502920"/>
            <a:ext cx="292608" cy="292608"/>
          </a:xfrm>
          <a:prstGeom prst="roundRect">
            <a:avLst>
              <a:gd name="adj" fmla="val 15625"/>
            </a:avLst>
          </a:prstGeom>
          <a:ln w="19050">
            <a:solidFill>
              <a:srgbClr val="6366F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472623" y="457200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0893247" y="429768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16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to go next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these — the deck, the demos, and the docs that back every claim today.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5410048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286000"/>
            <a:ext cx="109728" cy="132588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468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B71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★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325880" y="2423160"/>
            <a:ext cx="44956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deck + demo code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325880" y="2788920"/>
            <a:ext cx="44956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github.com/mattleibow/cptmsdug-local-cloud-agent-framework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325880" y="3154680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slides, all four demos, ready to clone &amp; run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3008" y="2286000"/>
            <a:ext cx="5410048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33008" y="2286000"/>
            <a:ext cx="109728" cy="132588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61608" y="2468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366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◆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7010248" y="2423160"/>
            <a:ext cx="44956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Agent Framework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010248" y="2788920"/>
            <a:ext cx="44956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366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github.com/microsoft/agent-framework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010248" y="3154680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AIAgent · AgentThread · workflows · DevUI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3749040"/>
            <a:ext cx="5410048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3749040"/>
            <a:ext cx="109728" cy="132588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39319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366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◆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1325880" y="3886200"/>
            <a:ext cx="44956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Microsoft.Extensions.AI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325880" y="4251960"/>
            <a:ext cx="44956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366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learn.microsoft.com/dotnet/ai/microsoft-extensions-ai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325880" y="4617720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IChatClient abstraction MAF builds on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233008" y="3749040"/>
            <a:ext cx="5410048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33008" y="3749040"/>
            <a:ext cx="109728" cy="132588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61608" y="39319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B71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◆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7010248" y="3886200"/>
            <a:ext cx="44956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maui-labs (Essentials.AI · AI.Attributes · DevFlow)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010248" y="4251960"/>
            <a:ext cx="44956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github.com/dotnet/maui-labs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010248" y="4617720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Intelligence wrapper, source-gen tools, AI-driven app debugging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48640" y="5212080"/>
            <a:ext cx="5410048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48640" y="5212080"/>
            <a:ext cx="109728" cy="132588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7240" y="53949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BBF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▣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1325880" y="5349240"/>
            <a:ext cx="44956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Local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1325880" y="5715000"/>
            <a:ext cx="44956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github.com/microsoft/Foundry-Local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1325880" y="6080760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Cloud-grade LLMs running on your laptop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233008" y="5212080"/>
            <a:ext cx="5410048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233008" y="5212080"/>
            <a:ext cx="109728" cy="132588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61608" y="53949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BBF2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▣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7010248" y="5349240"/>
            <a:ext cx="44956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FoundationModels  ·  Windows AI APIs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010248" y="5715000"/>
            <a:ext cx="44956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developer.apple.com/documentation/foundationmodels  ·  learn.microsoft.com/windows/ai/apis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7010248" y="6080760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On-device LLM platforms — straight from the source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0180015" y="502920"/>
            <a:ext cx="292608" cy="292608"/>
          </a:xfrm>
          <a:prstGeom prst="roundRect">
            <a:avLst>
              <a:gd name="adj" fmla="val 15625"/>
            </a:avLst>
          </a:prstGeom>
          <a:ln w="19050">
            <a:solidFill>
              <a:srgbClr val="6366F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472623" y="457200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1800" dirty="0"/>
          </a:p>
        </p:txBody>
      </p:sp>
      <p:sp>
        <p:nvSpPr>
          <p:cNvPr id="43" name="Text 41"/>
          <p:cNvSpPr/>
          <p:nvPr/>
        </p:nvSpPr>
        <p:spPr>
          <a:xfrm>
            <a:off x="10893247" y="429768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200" dirty="0"/>
          </a:p>
        </p:txBody>
      </p:sp>
      <p:sp>
        <p:nvSpPr>
          <p:cNvPr id="44" name="Text 42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16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0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825935" y="0"/>
            <a:ext cx="365760" cy="685800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502920"/>
            <a:ext cx="1097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6400" dirty="0"/>
          </a:p>
        </p:txBody>
      </p:sp>
      <p:sp>
        <p:nvSpPr>
          <p:cNvPr id="4" name="Text 2"/>
          <p:cNvSpPr/>
          <p:nvPr/>
        </p:nvSpPr>
        <p:spPr>
          <a:xfrm>
            <a:off x="1554480" y="73152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2286000" y="54864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📱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you.</a:t>
            </a:r>
            <a:endParaRPr lang="en-US" sz="11000" dirty="0"/>
          </a:p>
        </p:txBody>
      </p:sp>
      <p:sp>
        <p:nvSpPr>
          <p:cNvPr id="7" name="Text 5"/>
          <p:cNvSpPr/>
          <p:nvPr/>
        </p:nvSpPr>
        <p:spPr>
          <a:xfrm>
            <a:off x="822960" y="37490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i="1" dirty="0">
                <a:solidFill>
                  <a:srgbClr val="FB71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Questions?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822960" y="55778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Matthew Leibowitz</a:t>
            </a:r>
            <a:pPr indent="0" marL="0">
              <a:buNone/>
            </a:pPr>
            <a:r>
              <a:rPr lang="en-US" sz="160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Software Engineer @ Microsoft   ·   </a:t>
            </a:r>
            <a:pPr indent="0" marL="0">
              <a:buNone/>
            </a:pPr>
            <a:r>
              <a:rPr lang="en-US" sz="16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60350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github.com/mattleibow/cptmsdug-local-cloud-agent-framework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Unifying Local and Cloud AI with Microsoft Agent Framework</dc:title>
  <dc:subject>Cape Town MS Developer User Group</dc:subject>
  <dc:creator>Matthew Leibowitz</dc:creator>
  <cp:lastModifiedBy>Matthew Leibowitz</cp:lastModifiedBy>
  <cp:revision>1</cp:revision>
  <dcterms:created xsi:type="dcterms:W3CDTF">2026-05-27T00:35:38Z</dcterms:created>
  <dcterms:modified xsi:type="dcterms:W3CDTF">2026-05-27T00:35:38Z</dcterms:modified>
</cp:coreProperties>
</file>