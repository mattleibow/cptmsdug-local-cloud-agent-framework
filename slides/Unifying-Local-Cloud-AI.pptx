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265615" y="54864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📱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0180015" y="73152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10911535" y="502920"/>
            <a:ext cx="1097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MS DEVELOPER USER GROUP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Unifying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 </a:t>
            </a:r>
            <a:pPr indent="0" marL="0">
              <a:buNone/>
            </a:pPr>
            <a:r>
              <a:rPr lang="en-US" sz="6400" b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</a:t>
            </a:r>
            <a:pPr indent="0" marL="0">
              <a:buNone/>
            </a:pPr>
            <a:r>
              <a:rPr lang="en-US" sz="6400" b="1" dirty="0">
                <a:solidFill>
                  <a:srgbClr val="6366F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</a:t>
            </a:r>
            <a:pPr indent="0" marL="0">
              <a:buNone/>
            </a:pPr>
            <a:r>
              <a:rPr lang="en-US" sz="64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</a:t>
            </a:r>
            <a:endParaRPr lang="en-US" sz="6400" dirty="0"/>
          </a:p>
        </p:txBody>
      </p:sp>
      <p:sp>
        <p:nvSpPr>
          <p:cNvPr id="9" name="Text 7"/>
          <p:cNvSpPr/>
          <p:nvPr/>
        </p:nvSpPr>
        <p:spPr>
          <a:xfrm>
            <a:off x="822960" y="4434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CBE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the Microsoft Agent Framework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Leibowitz</a:t>
            </a:r>
            <a:pPr indent="0" marL="0">
              <a:buNone/>
            </a:pPr>
            <a:r>
              <a:rPr lang="en-US" sz="16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Software Engineer @ Microsoft   ·   </a:t>
            </a:r>
            <a:pPr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THE SPEAKER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Hi, I'm Matthew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291840" cy="3291840"/>
          </a:xfrm>
          <a:prstGeom prst="ellipse">
            <a:avLst/>
          </a:prstGeom>
          <a:solidFill>
            <a:srgbClr val="1E1B4B"/>
          </a:solidFill>
          <a:ln w="50800">
            <a:solidFill>
              <a:srgbClr val="FB718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01168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4572000" y="210312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Matthew Leibowitz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0" y="2743200"/>
            <a:ext cx="6858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 at Microsoft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0" y="3584448"/>
            <a:ext cx="320040" cy="32004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358444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4920" y="3520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4224528"/>
            <a:ext cx="320040" cy="32004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422452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74920" y="416052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/ Twitter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0" y="4864608"/>
            <a:ext cx="320040" cy="32004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4864608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74920" y="480060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   </a:t>
            </a:r>
            <a:pPr indent="0" marL="0">
              <a:buNone/>
            </a:pPr>
            <a:r>
              <a:rPr lang="en-US" sz="20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one model is never enough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deployment trades off three things. No single tier wins all three.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474720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H="1">
            <a:off x="1867662" y="5136642"/>
            <a:ext cx="3214116" cy="0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1867662" y="2514600"/>
            <a:ext cx="1607058" cy="2622042"/>
          </a:xfrm>
          <a:prstGeom prst="line">
            <a:avLst/>
          </a:prstGeom>
          <a:noFill/>
          <a:ln w="25400">
            <a:solidFill>
              <a:srgbClr val="E5E1F5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3063240" y="2103120"/>
            <a:ext cx="822960" cy="822960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94560" y="2971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011680" y="329184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never leaves the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70298" y="4725162"/>
            <a:ext cx="822960" cy="822960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01618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18738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response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456182" y="4725162"/>
            <a:ext cx="822960" cy="822960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502" y="559384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4622" y="5913882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reasoning, scale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397764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6B6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766560" y="2377440"/>
            <a:ext cx="4937760" cy="3474720"/>
          </a:xfrm>
          <a:prstGeom prst="roundRect">
            <a:avLst>
              <a:gd name="adj" fmla="val 3947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40880" y="274320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“The interesting apps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7040880" y="329184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in the seams.”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040880" y="411480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apps combine multiple models across multiple environments. The job is no longer “pick a model” — it's orchestrating the right one for each task.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  ·  START WITH WHAT YOU KNOW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AI — the frontier brain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0" dirty="0"/>
          </a:p>
        </p:txBody>
      </p:sp>
      <p:sp>
        <p:nvSpPr>
          <p:cNvPr id="5" name="Text 3"/>
          <p:cNvSpPr/>
          <p:nvPr/>
        </p:nvSpPr>
        <p:spPr>
          <a:xfrm>
            <a:off x="4937760" y="173736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937760" y="219456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035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/ AI Foundry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03920" y="219456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GPT-4o, GPT-5, o-series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37760" y="278892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503920" y="278892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Nova, Claude, Llama, Mistral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937760" y="3383280"/>
            <a:ext cx="228600" cy="411480"/>
          </a:xfrm>
          <a:prstGeom prst="roundRect">
            <a:avLst>
              <a:gd name="adj" fmla="val 2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503920" y="3383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Pro / Flash, Model Garden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064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12064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 reasoning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context windows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Multimodal · tool calling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frontier models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03920" y="4206240"/>
            <a:ext cx="32918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429768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686800" y="4617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 per million tokens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latency · jitter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leaves the device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connectivity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Calling the 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direct Azure OpenAI call — the baseline everyone already ships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 = new AzureOpenAIClient(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Uri(endpoint),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DefaultAzureCredential());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 = client.GetChatClient("gpt-4.1");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chat.CompleteChatAsync(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"Summarise the agenda for today.");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Console.WriteLine(response.Value.Content[0].Text);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Latency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round-trip — feel 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Connectivity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Wi-Fi off and watch it fail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Quality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Frontier-class reasoning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💸 Cost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token is metered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  ·  THE SURPRISE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OS already ships an LLM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Vendor-managed, shared across apps, zero cost, fully offline. ~3B-class models.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86000"/>
            <a:ext cx="3703320" cy="164592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Apple Intelligence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FoundationModels (Swift)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26 · macOS Tahoe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· multilingual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LoRA adapters · tool calls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shipped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8912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89120" y="2286000"/>
            <a:ext cx="3703320" cy="16459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Phi Silica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Windows AI APIs (.NET)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Copilot+ PCs · NPU-accelerated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~3.3B Phi-3.5-class model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rewrite · generate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🔜  maui-labs PR #178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229600" y="228600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29600" y="2286000"/>
            <a:ext cx="3703320" cy="164592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60604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0" y="29260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 Kit + Gemini Nano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8503920" y="347472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ML Kit (Kotlin/Java)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503920" y="3931920"/>
            <a:ext cx="3154680" cy="0"/>
          </a:xfrm>
          <a:prstGeom prst="line">
            <a:avLst/>
          </a:prstGeom>
          <a:noFill/>
          <a:ln w="12700">
            <a:solidFill>
              <a:srgbClr val="E5E1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03920" y="4069080"/>
            <a:ext cx="31546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· AICore service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Gemini Nano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· proofread · rewrite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503920" y="5440680"/>
            <a:ext cx="3154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 .NET wrapper in scope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5989320"/>
            <a:ext cx="11094415" cy="502920"/>
          </a:xfrm>
          <a:prstGeom prst="roundRect">
            <a:avLst>
              <a:gd name="adj" fmla="val 14545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989320"/>
            <a:ext cx="1109441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for .NET MAUI:  </a:t>
            </a:r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pPr algn="ctr" indent="0" marL="0">
              <a:buNone/>
            </a:pPr>
            <a:r>
              <a:rPr lang="en-US" sz="13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one IChatClient shape, Apple today · Phi Silica next · Gemini in scope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Living on the Edge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Intelligence running 100% on this Mac — no network, no key, no bill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Microsoft.Maui.Essentials.AI;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Microsoft.Extensions.AI;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IChatClient chat = new AppleIntelligenceChatClient();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response = await chat.GetResponseAsync(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"Summarise the agenda for today.");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Console.WriteLine(response.Text);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✈️  Works in airplane mode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🆓  No API key, no per-token cost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🔒  Data never leaves the device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Instant first token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round-trip — sub-second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Airplane mode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Disconnect — still works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📏 Tiny but capable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~3B params on the NPU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The limit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context · narrow skills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 ·  THE PRACTICAL MIDDLE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your own local model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forgotten tier — cloud-class capability with local-class privacy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Foundry Local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Cloud-grade LLMs, local host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Microsoft's runtime for running Phi, Llama, Qwen and friends on the user's box. .NET-friendly, ONNX-backed, GPU/NPU accelerated.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8912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6344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ONNX Runtime GenAI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6344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your own model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 C# / native inference. Bring any ONNX-converted model — tiny custom classifiers to multi-billion-param LLMs.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0" y="2286000"/>
            <a:ext cx="3703320" cy="39319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03920" y="251460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0" y="251460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UNDERRATED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503920" y="297180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Tiny Bespoke Models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503920" y="3520440"/>
            <a:ext cx="3154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Right-sized for the task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503920" y="4023360"/>
            <a:ext cx="3154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a 50MB classifier beats a 3B LLM. Embeddings, intent detection, structured extraction — fast, cheap, embarrassingly good.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13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Big Brain, Locally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hosting a Phi-class LLM on this laptop — OpenAI-compatible endpoint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200400"/>
            <a:ext cx="6858000" cy="3108960"/>
          </a:xfrm>
          <a:prstGeom prst="roundRect">
            <a:avLst>
              <a:gd name="adj" fmla="val 2941"/>
            </a:avLst>
          </a:prstGeom>
          <a:solidFill>
            <a:srgbClr val="1E1B4B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383280"/>
            <a:ext cx="64922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Start a local model from the CLI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foundry model run phi-4-mini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Manager owns the dynamic endpoint + key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manager = await FoundryLocalManager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.StartModelAsync("phi-4-mini");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client = new OpenAIClient(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ApiKeyCredential(manager.ApiKey),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OpenAIClientOptions { Endpoint = manager.Endpoint });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chat = client.GetChatClient("phi-4-mini");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0" y="3200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FOR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3611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Real reasoning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046720" y="3886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Multi-billion-param model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046720" y="4251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Stays on device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046720" y="4526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egress, no API key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046720" y="48920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🔌 OpenAI-compatible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0" y="51663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SDK, swap the URL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046720" y="55321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The tradeoff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58064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 + RAM + warm-up time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UNIFIER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Agent Framework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programming model. Three tiers. Swap the brain — keep the code.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377440"/>
            <a:ext cx="137160" cy="8229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46888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Phi Silica · Gemini Nano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333756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3337560"/>
            <a:ext cx="137160" cy="8229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42900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374904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 · ONNX · custom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4297680"/>
            <a:ext cx="137160" cy="8229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3891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7091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 · Bedrock · Vertex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rot="5400000">
            <a:off x="3794760" y="262432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3794760" y="358444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rot="5400000">
            <a:off x="3794760" y="4544568"/>
            <a:ext cx="365760" cy="329184"/>
          </a:xfrm>
          <a:prstGeom prst="rightTriangle">
            <a:avLst/>
          </a:prstGeom>
          <a:solidFill>
            <a:srgbClr val="E5E1F5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97680" y="2377440"/>
            <a:ext cx="3291840" cy="2880360"/>
          </a:xfrm>
          <a:prstGeom prst="roundRect">
            <a:avLst>
              <a:gd name="adj" fmla="val 4762"/>
            </a:avLst>
          </a:prstGeom>
          <a:solidFill>
            <a:srgbClr val="0F0A2E"/>
          </a:solidFill>
          <a:ln w="12700">
            <a:solidFill>
              <a:srgbClr val="0F0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0" y="26517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AIAgent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4297680" y="33832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AgentThread · Tools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· Streaming</a:t>
            </a:r>
            <a:endParaRPr lang="en-US" sz="14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297680" y="47548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Microsoft.Agents.AI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863840" y="2377440"/>
            <a:ext cx="3870655" cy="2880360"/>
          </a:xfrm>
          <a:prstGeom prst="roundRect">
            <a:avLst>
              <a:gd name="adj" fmla="val 3175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46720" y="2514600"/>
            <a:ext cx="3504895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chatClient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.CreateAIAgent(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assistant.",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"assistant");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foreach (var update 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agent.RunStreamingAsync(prompt))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Console.Write(update.Text);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📐 The provider changes. The agent code does not.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228600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2286000"/>
            <a:ext cx="365760" cy="228600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365760" cy="228600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6400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 04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128016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Mixing It All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MAUI app. Three AI tiers. Same AIAgent code path.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AppleIntelligenceChatClient();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 Microsoft.Maui.Essentials.AI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FBBF2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OpenAIClient(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ApiKeyCredential("not-used"),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new OpenAIClientOptions {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Endpoint = manager.Endpoint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.GetChatClient("phi-4-mini")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.AsIChatClient();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412480" y="3200400"/>
            <a:ext cx="3657600" cy="2194560"/>
          </a:xfrm>
          <a:prstGeom prst="roundRect">
            <a:avLst>
              <a:gd name="adj" fmla="val 4167"/>
            </a:avLst>
          </a:prstGeom>
          <a:solidFill>
            <a:srgbClr val="1E1B4B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0" y="3337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595360" y="3703320"/>
            <a:ext cx="32918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chatClient = new AzureOpenAIClient(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endpoint, new DefaultAzureCredential())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.GetChatClient("gpt-4.1")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.AsIChatClient();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" y="5577840"/>
            <a:ext cx="10545775" cy="822960"/>
          </a:xfrm>
          <a:prstGeom prst="roundRect">
            <a:avLst>
              <a:gd name="adj" fmla="val 11111"/>
            </a:avLst>
          </a:prstGeom>
          <a:solidFill>
            <a:srgbClr val="0F0A2E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577840"/>
            <a:ext cx="105457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AF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agent = chatClient.CreateAIAgent("You are helpful.");</a:t>
            </a:r>
            <a:pPr algn="ctr" indent="0" marL="0">
              <a:buNone/>
            </a:pPr>
            <a:r>
              <a:rPr lang="en-US" sz="1500" i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←  identical for every tier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Standing on the shoulders of maui-labs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saw runs on experimental packages from github.com/dotnet/maui-labs — try them, file issues, send PRs.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24028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Microsoft.Maui.Essentials.AI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11.0.0-preview.4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Wraps Apple Intelligence as a standard IChatClient — same code path as your cloud client. No key, no cloud, works offline.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55080" y="224028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55080" y="2240280"/>
            <a:ext cx="137160" cy="173736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42316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Microsoft.Maui.AI.Attributes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75120" y="283464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320040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generator: decorate a C# method with [ExportAIFunction] and it becomes a strongly-typed AI tool. AOT-safe, zero reflection.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160520"/>
            <a:ext cx="137160" cy="17373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Phi Silica  ·  PR #178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/ in flight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the same IChatClient wrapper to Windows Copilot+ PCs via Windows AI APIs. Adds Phi Silica as another local provider.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4160520"/>
            <a:ext cx="55321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1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55080" y="4160520"/>
            <a:ext cx="137160" cy="1737360"/>
          </a:xfrm>
          <a:prstGeom prst="rect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5120" y="4343400"/>
            <a:ext cx="4983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Microsoft.Maui.DevFlow.Agent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675120" y="4754880"/>
            <a:ext cx="4983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0.1.0-preview.10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5120640"/>
            <a:ext cx="4983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Playwright-for-MAUI + MCP server. AI agents (Copilot, Claude) can drive the live app — this entire app was built that way.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github.com/dotnet/maui-labs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10180015" y="502920"/>
            <a:ext cx="292608" cy="292608"/>
          </a:xfrm>
          <a:prstGeom prst="roundRect">
            <a:avLst>
              <a:gd name="adj" fmla="val 15625"/>
            </a:avLst>
          </a:prstGeom>
          <a:ln w="1905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72623" y="457200"/>
            <a:ext cx="411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0893247" y="42976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Unifying Local and Cloud AI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l" indent="0" marL="0">
              <a:buNone/>
            </a:pPr>
            <a:r>
              <a:rPr lang="en-US" sz="1000" b="1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</a:t>
            </a:r>
            <a:pPr algn="l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@CPTMSDUG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820095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B71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THUMB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AF8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choice. Your code stays the same.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7315200" cy="45720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1031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WHEN…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0" y="2103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FCB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0604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060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is non-negotiable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75234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37760" y="2606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1089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/ poor connectivity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325526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 · BYO Local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61188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61188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first token matters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3758184"/>
            <a:ext cx="201168" cy="201168"/>
          </a:xfrm>
          <a:prstGeom prst="ellipse">
            <a:avLst/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37760" y="36118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Local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1480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frontier reasoning / tools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663440" y="426110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37760" y="41148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61772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61772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Huge context / multimodal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63440" y="4764024"/>
            <a:ext cx="201168" cy="201168"/>
          </a:xfrm>
          <a:prstGeom prst="ellipse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46177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512064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capability, no data egress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663440" y="526694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5120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BYO Local (Foundry Local)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8640" y="5623560"/>
            <a:ext cx="7315200" cy="502920"/>
          </a:xfrm>
          <a:prstGeom prst="rect">
            <a:avLst/>
          </a:prstGeom>
          <a:solidFill>
            <a:srgbClr val="1E1B4B"/>
          </a:solidFill>
          <a:ln w="12700">
            <a:solidFill>
              <a:srgbClr val="1E1B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623560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matters at scale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663440" y="5769864"/>
            <a:ext cx="201168" cy="20116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937760" y="56235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AF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pre-roll, post-roll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229600" y="2103120"/>
            <a:ext cx="3504895" cy="4023360"/>
          </a:xfrm>
          <a:prstGeom prst="roundRect">
            <a:avLst>
              <a:gd name="adj" fmla="val 3131"/>
            </a:avLst>
          </a:prstGeom>
          <a:solidFill>
            <a:srgbClr val="FB7185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03920" y="2286000"/>
            <a:ext cx="295625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03920" y="2697480"/>
            <a:ext cx="295625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me</a:t>
            </a:r>
            <a:endParaRPr lang="en-US" sz="2800" dirty="0"/>
          </a:p>
        </p:txBody>
      </p:sp>
      <p:sp>
        <p:nvSpPr>
          <p:cNvPr id="35" name="Text 33"/>
          <p:cNvSpPr/>
          <p:nvPr/>
        </p:nvSpPr>
        <p:spPr>
          <a:xfrm>
            <a:off x="8503920" y="3291840"/>
            <a:ext cx="2956255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@mattleibow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· X · LinkedIn
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F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+ demo code
</a:t>
            </a:r>
            <a:pPr indent="0" marL="0">
              <a:spcAft>
                <a:spcPts val="200"/>
              </a:spcAft>
              <a:buNone/>
            </a:pPr>
            <a:r>
              <a:rPr lang="en-US" sz="13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github.com/mattleibow
</a:t>
            </a:r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/cptmsdug-local-cloud-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rgbClr val="0F0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agent-framework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48640" y="6035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B718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Unifying Local and Cloud AI with Microsoft Agent Framework</dc:title>
  <dc:subject>Cape Town MS Developer User Group</dc:subject>
  <dc:creator>Matthew Leibowitz</dc:creator>
  <cp:lastModifiedBy>Matthew Leibowitz</cp:lastModifiedBy>
  <cp:revision>1</cp:revision>
  <dcterms:created xsi:type="dcterms:W3CDTF">2026-05-26T23:34:10Z</dcterms:created>
  <dcterms:modified xsi:type="dcterms:W3CDTF">2026-05-26T23:34:10Z</dcterms:modified>
</cp:coreProperties>
</file>