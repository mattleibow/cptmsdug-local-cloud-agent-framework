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265615" y="54864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10180015" y="7315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10911535" y="502920"/>
            <a:ext cx="1097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 TOWN MS DEVELOPER USER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688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Unifying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</a:t>
            </a:r>
            <a:pPr indent="0" marL="0">
              <a:buNone/>
            </a:pPr>
            <a:r>
              <a:rPr lang="en-US" sz="6400" b="1" dirty="0">
                <a:solidFill>
                  <a:srgbClr val="CFCB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</a:t>
            </a:r>
            <a:pPr indent="0" marL="0">
              <a:buNone/>
            </a:pPr>
            <a:r>
              <a:rPr lang="en-US" sz="64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</a:t>
            </a:r>
            <a:pPr indent="0" marL="0">
              <a:buNone/>
            </a:pPr>
            <a:r>
              <a:rPr lang="en-US" sz="64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822960" y="4434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FCB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the Microsoft Agent Framework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2296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Matthew Leibowitz</a:t>
            </a:r>
            <a:pPr indent="0" marL="0">
              <a:buNone/>
            </a:pPr>
            <a:r>
              <a:rPr lang="en-US" sz="16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Software Engineer @ Microsoft   ·   </a:t>
            </a:r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SPEAKER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Hi, I'm Matthew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291840" cy="3291840"/>
          </a:xfrm>
          <a:prstGeom prst="ellipse">
            <a:avLst/>
          </a:prstGeom>
          <a:solidFill>
            <a:srgbClr val="1E1B4B"/>
          </a:solidFill>
          <a:ln w="50800">
            <a:solidFill>
              <a:srgbClr val="FB718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11680"/>
            <a:ext cx="32918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4572000" y="210312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Matthew Leibowitz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0" y="27432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 at Microsoft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0" y="3584448"/>
            <a:ext cx="320040" cy="32004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358444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74920" y="35204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4224528"/>
            <a:ext cx="320040" cy="32004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422452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74920" y="41605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/ Twitter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0" y="4864608"/>
            <a:ext cx="320040" cy="32004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486460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74920" y="4800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one model is never enough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deployment trades off three things. No single tier wins all three.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474720" y="2514600"/>
            <a:ext cx="1607058" cy="2622042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flipH="1">
            <a:off x="1867662" y="5136642"/>
            <a:ext cx="3214116" cy="0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 flipV="1">
            <a:off x="1867662" y="2514600"/>
            <a:ext cx="1607058" cy="2622042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063240" y="2103120"/>
            <a:ext cx="822960" cy="82296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11680" y="3291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never leaves the device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70298" y="4725162"/>
            <a:ext cx="822960" cy="82296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01618" y="559384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18738" y="591388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response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456182" y="4725162"/>
            <a:ext cx="822960" cy="82296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7502" y="559384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04622" y="591388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reasoning, scale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0" y="39776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6B6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2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766560" y="2377440"/>
            <a:ext cx="4937760" cy="3474720"/>
          </a:xfrm>
          <a:prstGeom prst="roundRect">
            <a:avLst>
              <a:gd name="adj" fmla="val 3947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0" y="274320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“The interesting apps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040880" y="329184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in the seams.”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040880" y="411480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apps combine multiple models across multiple environments. The job is no longer “pick a model” — it's orchestrating the right one for each task.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 ·  START WITH WHAT YOU KNOW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AI — the frontier brain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0" dirty="0"/>
          </a:p>
        </p:txBody>
      </p:sp>
      <p:sp>
        <p:nvSpPr>
          <p:cNvPr id="5" name="Text 3"/>
          <p:cNvSpPr/>
          <p:nvPr/>
        </p:nvSpPr>
        <p:spPr>
          <a:xfrm>
            <a:off x="4937760" y="17373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37760" y="219456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0" y="2194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/ AI Foundry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503920" y="2194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GPT-4o, GPT-5, o-series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37760" y="278892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50392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Nova, Claude, Llama, Mistral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937760" y="338328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Vertex AI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50392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Pro / Flash, Model Garden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42062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064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20640" y="4617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reasoning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 context windows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· tool calling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frontier models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03920" y="42062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686800" y="4617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 per million tokens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latency · jitter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leaves the device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connectivity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Calling the Cloud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 Azure OpenAI call — the baseline everyone already ships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 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AzureOpenAIClient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Uri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DefaultAzureCredential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 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GetChatClient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"gpt-4.1"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response 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CompleteChatAsync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"Summarise the agenda for today."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0" y="3611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Latency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0" y="3886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round-trip — feel it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46720" y="4251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Connectivity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0" y="4526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Wi-Fi off and watch it fail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46720" y="4892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Quality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0" y="5166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Frontier-class reasoning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46720" y="5532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💸 Cost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0" y="5806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token is metered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 ·  THE SURPRISE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OS already ships an LLM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Vendor-managed, shared across apps, zero cost, fully offline. ~3B-class models.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3703320" cy="16459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Apple Intelligence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FoundationModels (Swift)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26 · macOS Tahoe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~3B params · multilingual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adapters · tool calls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54406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shipped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8912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9120" y="2286000"/>
            <a:ext cx="3703320" cy="16459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6344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Phi Silica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6344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Windows AI APIs (.NET)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Copilot+ PCs · NPU-accelerated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~3.3B Phi-3.5-class model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· rewrite · generate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63440" y="54406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🔜  maui-labs PR #178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22960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0" y="2286000"/>
            <a:ext cx="37033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0392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0392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Kit + Gemini Nano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850392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 Kit (Kotlin/Java)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50392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· AICore service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Gemini Nano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· proofread · rewrite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503920" y="54406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.NET wrapper under investigation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989320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5989320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for .NET MAUI:  </a:t>
            </a:r>
            <a:pPr algn="ctr" indent="0" marL="0">
              <a:buNone/>
            </a:pPr>
            <a:r>
              <a:rPr lang="en-US" sz="13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Microsoft.Maui.Essentials.AI</a:t>
            </a:r>
            <a:pPr algn="ctr" indent="0" marL="0">
              <a:buNone/>
            </a:pPr>
            <a:r>
              <a:rPr lang="en-US" sz="13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one IChatClient shape, Apple today · Phi Silica in progress · Gemini under investigation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Living on the Edge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 running 100% on this Mac — no network, no key, no bill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Maui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Essentials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Extensions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response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GetResponseAsync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"Summarise the agenda for today."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✈️  Works in airplane mode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🆓  No API key, no per-token cost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🔒  Data never leaves the device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0" y="3611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Instant first token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0" y="3886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round-trip — sub-second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46720" y="4251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Airplane mode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0" y="4526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 — still works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46720" y="4892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 Tiny but capable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0" y="5166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~3B params on the NPU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46720" y="5532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The limit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0" y="5806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context · narrow skills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FB718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 ·  THE PRACTICAL MIDDLE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your own local model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forgotten tier — cloud-class capability with local-class privacy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Foundry Local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Cloud-grade LLMs, local host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runtime for running Phi, Llama, Qwen and friends on the user's box. .NET-friendly, ONNX-backed, GPU/NPU accelerated.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66344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ONNX Runtime GenAI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6344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your own model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6344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 C# / native inference. Bring any ONNX-converted model — tiny custom classifiers to multi-billion-param LLMs.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0392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UNDERRATED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50392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Tiny Bespoke Models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50392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Right-sized for the task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50392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a 50MB classifier beats a 3B LLM. Embeddings, intent detection, structured extraction — fast, cheap, embarrassingly good.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Big Brain, Locally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 hosting a Phi-class LLM on this laptop — OpenAI-compatible endpoint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Start a local model from the CLI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foundry model run phi-4-mini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Manager owns the dynamic endpoint + key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manager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FoundryLocalManager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StartModelAsync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"phi-4-mini"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ApiKeyCredential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ApiKey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OpenAIClientOptions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Endpoint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manager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GetChatClient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"phi-4-mini"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0" y="3611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Real reasoning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0" y="3886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Multi-billion-param model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46720" y="4251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Stays on device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0" y="4526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egress, no API key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46720" y="4892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 OpenAI-compatible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0" y="5166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SDK, swap the URL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46720" y="5532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The tradeoff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0" y="5806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+ RAM + warm-up time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FBBF2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UNIFIER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Agent Framework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programming model. Three tiers. Swap the brain — keep the code.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77440"/>
            <a:ext cx="137160" cy="8229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· Phi Silica · Gemini Nano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337560"/>
            <a:ext cx="137160" cy="8229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429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37490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 · ONNX · custom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297680"/>
            <a:ext cx="137160" cy="8229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3891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4709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· Bedrock · Vertex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 rot="5400000">
            <a:off x="3337560" y="2624328"/>
            <a:ext cx="365760" cy="329184"/>
          </a:xfrm>
          <a:prstGeom prst="rightTriangle">
            <a:avLst/>
          </a:prstGeom>
          <a:solidFill>
            <a:srgbClr val="E5E1F5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3337560" y="3584448"/>
            <a:ext cx="365760" cy="329184"/>
          </a:xfrm>
          <a:prstGeom prst="rightTriangle">
            <a:avLst/>
          </a:prstGeom>
          <a:solidFill>
            <a:srgbClr val="E5E1F5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5400000">
            <a:off x="3337560" y="4544568"/>
            <a:ext cx="365760" cy="329184"/>
          </a:xfrm>
          <a:prstGeom prst="rightTriangle">
            <a:avLst/>
          </a:prstGeom>
          <a:solidFill>
            <a:srgbClr val="E5E1F5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0480" y="2286000"/>
            <a:ext cx="5029200" cy="3063240"/>
          </a:xfrm>
          <a:prstGeom prst="roundRect">
            <a:avLst>
              <a:gd name="adj" fmla="val 4478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0" y="256032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AIAgent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3840480" y="3337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AgentThread  ·  Tools  ·  Workflows  ·  Streaming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846320" y="3840480"/>
            <a:ext cx="3017520" cy="0"/>
          </a:xfrm>
          <a:prstGeom prst="line">
            <a:avLst/>
          </a:prstGeom>
          <a:noFill/>
          <a:ln w="12700">
            <a:solidFill>
              <a:srgbClr val="FB718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0" y="397764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ChatClientAgent  ·  WorkflowAgent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FunctionInvokingChatClient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840480" y="49377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Microsoft.Agents.AI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235440" y="2404872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09760" y="2331720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509760" y="2651760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IChatClient, keep your agent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235440" y="3118104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09760" y="3044952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509760" y="3364992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AgentThread persists conversation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235440" y="3831336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09760" y="3758184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Tool-aware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509760" y="4078224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Source-generated AITools (no reflection)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235440" y="4544568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509760" y="4471416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509760" y="4791456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Token-by-token via IAsyncEnumerable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📐 The provider changes. The agent code does not.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LINES OF CODE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use it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an IChatClient — any tier — and wrap it as an agent.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7680960" cy="4023360"/>
          </a:xfrm>
          <a:prstGeom prst="roundRect">
            <a:avLst>
              <a:gd name="adj" fmla="val 2727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331720"/>
            <a:ext cx="722376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1. Take any IChatClient — Apple, Foundry Local, Cloud…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2. Wrap it as an agent (with optional tools)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CreateAIAgent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 are a travel guide."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TravelToolContext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3. Keep a thread for conversation state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AgentThread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thread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GetNewThread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4. Stream the response, token by token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update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RunStreamingAsync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thread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Console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458200" y="2194560"/>
            <a:ext cx="32762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41080" y="237744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41080" y="2377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281160" y="2331720"/>
            <a:ext cx="2361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Pluggable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281160" y="2651760"/>
            <a:ext cx="2361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IChatClient — Apple, Foundry Local, Azure OpenAI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458200" y="3200400"/>
            <a:ext cx="32762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41080" y="3383280"/>
            <a:ext cx="502920" cy="5029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41080" y="3383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281160" y="3337560"/>
            <a:ext cx="2361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Tool-aware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281160" y="3657600"/>
            <a:ext cx="2361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[ExportAIFunction] generates AITool descriptors at compile time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458200" y="4206240"/>
            <a:ext cx="32762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41080" y="4389120"/>
            <a:ext cx="502920" cy="50292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41080" y="4389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281160" y="4343400"/>
            <a:ext cx="2361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281160" y="4663440"/>
            <a:ext cx="2361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AgentThread carries history across runs — no manual list-juggling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58200" y="5212080"/>
            <a:ext cx="32762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41080" y="539496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41080" y="5394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281160" y="5349240"/>
            <a:ext cx="2361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281160" y="5669280"/>
            <a:ext cx="2361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RunStreamingAsync yields AgentRunResponseUpdate — wire to your UI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3429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429000"/>
            <a:ext cx="365760" cy="34290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5029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Workflow of Agents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workflows compose agents — local privacy on the bookends, cloud reasoning in the middle.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082735" y="237744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CFCBE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65615" y="2528316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859975" y="2468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input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859975" y="27432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raw, may have PII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0408615" y="3108960"/>
            <a:ext cx="0" cy="22860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0317175" y="3337560"/>
            <a:ext cx="182880" cy="164592"/>
          </a:xfrm>
          <a:prstGeom prst="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082735" y="347472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FB7185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65615" y="3625596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9859975" y="356616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9859975" y="384048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10408615" y="4206240"/>
            <a:ext cx="0" cy="22860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 flipV="1">
            <a:off x="10317175" y="4434840"/>
            <a:ext cx="182880" cy="164592"/>
          </a:xfrm>
          <a:prstGeom prst="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9082735" y="457200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6366F1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65615" y="4722876"/>
            <a:ext cx="384048" cy="38404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9859975" y="466344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9859975" y="49377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10408615" y="5303520"/>
            <a:ext cx="0" cy="22860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 flipV="1">
            <a:off x="10317175" y="5532120"/>
            <a:ext cx="182880" cy="164592"/>
          </a:xfrm>
          <a:prstGeom prst="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082735" y="566928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CFCBED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65615" y="5820156"/>
            <a:ext cx="384048" cy="38404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859975" y="5760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answer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9859975" y="603504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sanitised reply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822960" y="2377440"/>
            <a:ext cx="7985455" cy="4114800"/>
          </a:xfrm>
          <a:prstGeom prst="roundRect">
            <a:avLst>
              <a:gd name="adj" fmla="val 2222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1051560" y="2542032"/>
            <a:ext cx="752825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Local — Apple Intelligence, on the device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triage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"Strip personal info. Return only topic + intent."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"triage"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Cloud — Azure OpenAI, frontier reasoning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expert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AzureOpenAIClient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endpoint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DefaultAzureCredential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"gpt-4.1"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AsIChatClient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"Answer with depth and current context."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"expert"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MAF workflow — pipe local → cloud, expose as an agent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AgentWorkflowBuilder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BuildSequential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"local-then-cloud"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triage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expert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update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RunStreamingAsync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userInput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Console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Standing on the shoulders of maui-labs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saw runs on experimental packages from github.com/dotnet/maui-labs — try them, file issues, send PRs.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40280"/>
            <a:ext cx="137160" cy="1737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42316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Microsoft.Maui.Essentials.AI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11.0.0-preview.4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320040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Apple Intelligence as a standard IChatClient — same code path as your cloud client. No key, no cloud, works offline.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55080" y="224028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5080" y="2240280"/>
            <a:ext cx="137160" cy="17373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242316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Microsoft.Maui.AI.Attributes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75120" y="28346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0.1.0-preview.10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75120" y="320040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generator: decorate a C# method with [ExportAIFunction] and it becomes a strongly-typed AI tool. AOT-safe, zero reflection.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160520"/>
            <a:ext cx="137160" cy="17373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3434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Phi Silica  ·  PR #178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47548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/ in flight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512064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the same IChatClient wrapper to Windows Copilot+ PCs via Windows AI APIs. Adds Phi Silica as another local provider.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55080" y="416052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5080" y="4160520"/>
            <a:ext cx="137160" cy="1737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5120" y="43434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Microsoft.Maui.DevFlow.Agent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75120" y="47548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0.1.0-preview.10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0" y="512064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Playwright-for-MAUI + MCP server. AI agents (Copilot, Claude) can drive the live app — this entire app was built that way.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github.com/dotnet/maui-labs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OF THUMB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choice. Your code stays the same.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answer — pick the tier that fits the task, and let MAF handle the rest.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410048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31720"/>
            <a:ext cx="5410048" cy="16459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51760"/>
            <a:ext cx="486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Local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486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it on the device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68680" y="368503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361188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non-negotiable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 · BYO Local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68680" y="418795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411480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/ poor network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 · BYO Local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8680" y="469087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" y="461772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first token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519379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3000" y="512064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matters at scale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pre/post-roll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33008" y="2331720"/>
            <a:ext cx="5410048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33008" y="2331720"/>
            <a:ext cx="5410048" cy="16459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07328" y="2651760"/>
            <a:ext cx="486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Cloud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07328" y="2971800"/>
            <a:ext cx="486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the frontier brain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6553048" y="368503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27368" y="361188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deep reasoning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553048" y="418795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27368" y="411480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Huge context · multimodal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553048" y="469087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27368" y="461772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requiring web data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53048" y="519379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27368" y="512064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capability, no egress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 (Foundry Local)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48640" y="58521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📐  Hand-off pattern:  local triage  →  cloud reasoning  →  local rendering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to go next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these — the deck, the demos, and the docs that back every claim today.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109728" cy="132588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★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25880" y="242316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deck + demo code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25880" y="278892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github.com/mattleibow/cptmsdug-local-cloud-agent-framework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25880" y="315468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slides, all four demos, ready to clone &amp; run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3008" y="228600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33008" y="2286000"/>
            <a:ext cx="109728" cy="13258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61608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010248" y="242316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10248" y="278892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github.com/microsoft/agent-framework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010248" y="315468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AIAgent · AgentThread · workflows · DevUI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749040"/>
            <a:ext cx="109728" cy="13258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325880" y="388620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Microsoft.Extensions.AI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25880" y="425196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learn.microsoft.com/dotnet/ai/microsoft-extensions-ai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25880" y="461772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IChatClient abstraction MAF builds 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33008" y="374904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008" y="3749040"/>
            <a:ext cx="109728" cy="132588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61608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010248" y="388620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maui-labs (Essentials.AI · AI.Attributes · DevFlow)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010248" y="425196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github.com/dotnet/maui-labs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010248" y="461772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 wrapper, source-gen tools, AI-driven app debugging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521208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5212080"/>
            <a:ext cx="109728" cy="13258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5394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▣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325880" y="534924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325880" y="571500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github.com/microsoft/Foundry-Local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325880" y="60807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Cloud-grade LLMs running on your laptop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33008" y="521208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33008" y="5212080"/>
            <a:ext cx="109728" cy="13258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61608" y="5394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▣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7010248" y="534924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FoundationModels  ·  Windows AI APIs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010248" y="571500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developer.apple.com/documentation/foundationmodels  ·  learn.microsoft.com/windows/ai/apis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010248" y="60807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LLM platforms — straight from the source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25935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97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1554480" y="7315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2286000" y="54864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</a:t>
            </a:r>
            <a:endParaRPr lang="en-US" sz="11000" dirty="0"/>
          </a:p>
        </p:txBody>
      </p:sp>
      <p:sp>
        <p:nvSpPr>
          <p:cNvPr id="7" name="Text 5"/>
          <p:cNvSpPr/>
          <p:nvPr/>
        </p:nvSpPr>
        <p:spPr>
          <a:xfrm>
            <a:off x="822960" y="37490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822960" y="5577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Matthew Leibowitz</a:t>
            </a:r>
            <a:pPr indent="0" marL="0">
              <a:buNone/>
            </a:pPr>
            <a:r>
              <a:rPr lang="en-US" sz="16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Software Engineer @ Microsoft   ·   </a:t>
            </a:r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github.com/mattleibow/cptmsdug-local-cloud-agent-framework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Unifying Local and Cloud AI with Microsoft Agent Framework</dc:title>
  <dc:subject>Cape Town MS Developer User Group</dc:subject>
  <dc:creator>Matthew Leibowitz</dc:creator>
  <cp:lastModifiedBy>Matthew Leibowitz</cp:lastModifiedBy>
  <cp:revision>1</cp:revision>
  <dcterms:created xsi:type="dcterms:W3CDTF">2026-05-27T00:45:20Z</dcterms:created>
  <dcterms:modified xsi:type="dcterms:W3CDTF">2026-05-27T00:45:20Z</dcterms:modified>
</cp:coreProperties>
</file>