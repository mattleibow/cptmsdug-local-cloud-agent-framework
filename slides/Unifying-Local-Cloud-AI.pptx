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65615" y="640080"/>
            <a:ext cx="1005840" cy="10058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7175" y="713232"/>
            <a:ext cx="868680" cy="868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5815" y="640080"/>
            <a:ext cx="1051560" cy="10515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2296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TOWN MS DEVELOPER USER GROUP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822960" y="2468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Unifying</a:t>
            </a:r>
            <a:endParaRPr lang="en-US" sz="6400" dirty="0"/>
          </a:p>
        </p:txBody>
      </p:sp>
      <p:sp>
        <p:nvSpPr>
          <p:cNvPr id="8" name="Text 3"/>
          <p:cNvSpPr/>
          <p:nvPr/>
        </p:nvSpPr>
        <p:spPr>
          <a:xfrm>
            <a:off x="822960" y="3383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</a:t>
            </a:r>
            <a:pPr indent="0" marL="0">
              <a:buNone/>
            </a:pPr>
            <a:r>
              <a:rPr lang="en-US" sz="6400" b="1" dirty="0">
                <a:solidFill>
                  <a:srgbClr val="CFCB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pPr indent="0" marL="0">
              <a:buNone/>
            </a:pPr>
            <a:r>
              <a:rPr lang="en-US" sz="6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</a:t>
            </a:r>
            <a:pPr indent="0" marL="0">
              <a:buNone/>
            </a:pPr>
            <a:r>
              <a:rPr lang="en-US" sz="64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6400" dirty="0"/>
          </a:p>
        </p:txBody>
      </p:sp>
      <p:sp>
        <p:nvSpPr>
          <p:cNvPr id="9" name="Text 4"/>
          <p:cNvSpPr/>
          <p:nvPr/>
        </p:nvSpPr>
        <p:spPr>
          <a:xfrm>
            <a:off x="82296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CB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Microsoft Agent Framework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Leibowitz</a:t>
            </a:r>
            <a:pPr indent="0" marL="0">
              <a:buNone/>
            </a:pPr>
            <a:r>
              <a:rPr lang="en-US" sz="1600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Software Engineer @ Microsoft   ·   </a:t>
            </a:r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SPEAKER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Hi, I'm Matthew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3291840"/>
          </a:xfrm>
          <a:prstGeom prst="ellipse">
            <a:avLst/>
          </a:prstGeom>
          <a:solidFill>
            <a:srgbClr val="1E1B4B"/>
          </a:solidFill>
          <a:ln w="50800">
            <a:solidFill>
              <a:srgbClr val="FB71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0" y="2103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Matthew Leibowitz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0" y="2743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at Microsoft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358444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584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</a:t>
            </a:r>
            <a:pPr indent="0" marL="0">
              <a:buNone/>
            </a:pPr>
            <a:r>
              <a:rPr lang="en-US" sz="20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4224528"/>
            <a:ext cx="320040" cy="32004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224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Twitter   </a:t>
            </a:r>
            <a:pPr indent="0" marL="0">
              <a:buNone/>
            </a:pPr>
            <a:r>
              <a:rPr lang="en-US" sz="20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4864608"/>
            <a:ext cx="320040" cy="3200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864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4800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 </a:t>
            </a:r>
            <a:pPr indent="0" marL="0">
              <a:buNone/>
            </a:pPr>
            <a:r>
              <a:rPr lang="en-US" sz="20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one model is never enough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deployment trades off three things. No single tier wins all three.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2514600"/>
            <a:ext cx="1607058" cy="2622042"/>
          </a:xfrm>
          <a:prstGeom prst="line">
            <a:avLst/>
          </a:prstGeom>
          <a:noFill/>
          <a:ln w="25400">
            <a:solidFill>
              <a:srgbClr val="E5E1F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H="1">
            <a:off x="1867662" y="5136642"/>
            <a:ext cx="3214116" cy="0"/>
          </a:xfrm>
          <a:prstGeom prst="line">
            <a:avLst/>
          </a:prstGeom>
          <a:noFill/>
          <a:ln w="25400">
            <a:solidFill>
              <a:srgbClr val="E5E1F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1867662" y="2514600"/>
            <a:ext cx="1607058" cy="2622042"/>
          </a:xfrm>
          <a:prstGeom prst="line">
            <a:avLst/>
          </a:prstGeom>
          <a:noFill/>
          <a:ln w="25400">
            <a:solidFill>
              <a:srgbClr val="E5E1F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063240" y="2103120"/>
            <a:ext cx="822960" cy="82296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device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0298" y="4725162"/>
            <a:ext cx="822960" cy="8229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1618" y="559384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8738" y="591388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56182" y="4725162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502" y="559384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4622" y="591388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reasoning, 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977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6B6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66560" y="2377440"/>
            <a:ext cx="4937760" cy="3474720"/>
          </a:xfrm>
          <a:prstGeom prst="roundRect">
            <a:avLst>
              <a:gd name="adj" fmla="val 3947"/>
            </a:avLst>
          </a:prstGeom>
          <a:solidFill>
            <a:srgbClr val="0F0A2E"/>
          </a:solidFill>
          <a:ln w="12700">
            <a:solidFill>
              <a:srgbClr val="0F0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interesting apps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40880" y="3291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the seams.”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40880" y="4114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apps combine multiple models across multiple environments. The job is no longer “pick a model” — it's orchestrating the right one for each task.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START WITH WHAT YOU 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AI — the frontier brain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237744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37760" y="2194560"/>
            <a:ext cx="228600" cy="41148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/ AI Foundry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GPT-5, o-series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2788920"/>
            <a:ext cx="228600" cy="41148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Nova, Claude, Llama, Mistral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3383280"/>
            <a:ext cx="228600" cy="411480"/>
          </a:xfrm>
          <a:prstGeom prst="roundRect">
            <a:avLst>
              <a:gd name="adj" fmla="val 20000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0392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 / Flash, Model Garden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37760" y="42062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20640" y="4617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reasoning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context windows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· tool calling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frontier models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03920" y="42062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0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0" y="4617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per million tokens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latency · jitter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the device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connectivity</a:t>
            </a:r>
            <a:endParaRPr lang="en-US" sz="13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Calling the Cloud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Azure OpenAI call — the baseline everyone already ships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6858000" cy="3108960"/>
          </a:xfrm>
          <a:prstGeom prst="roundRect">
            <a:avLst>
              <a:gd name="adj" fmla="val 2941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83280"/>
            <a:ext cx="6492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client shape used in demos/Demo.WebAgentApp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endpoint </a:t>
            </a:r>
            <a:pPr indent="0" marL="0">
              <a:buNone/>
            </a:pPr>
            <a:r>
              <a:rPr lang="en-US" sz="13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azureBase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"/openai/v1"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IChatClient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 </a:t>
            </a:r>
            <a:pPr indent="0" marL="0">
              <a:buNone/>
            </a:pPr>
            <a:r>
              <a:rPr lang="en-US" sz="13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"gpt-4.1"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ApiKeyCredential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Endpoint </a:t>
            </a:r>
            <a:pPr indent="0" marL="0">
              <a:buNone/>
            </a:pPr>
            <a:r>
              <a:rPr lang="en-US" sz="13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endpoint 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AsIChatClient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 </a:t>
            </a:r>
            <a:pPr indent="0" marL="0">
              <a:buNone/>
            </a:pPr>
            <a:r>
              <a:rPr lang="en-US" sz="13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GetResponseAsync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 the agenda for today."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0" y="364845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94192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94192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round-trip — feel it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720" y="428853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4192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94192" y="4526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Wi-Fi off and watch it fail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6720" y="492861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94192" y="4892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94192" y="5166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Frontier-class reasoning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0" y="556869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94192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94192" y="5806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is metered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THE SURPRISE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OS already ships an LLM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Vendor-managed, shared across apps, zero cost, fully offline. ~3B-class models.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7033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3703320" cy="1645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Intelligence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FoundationModels (Swift)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3154680" cy="0"/>
          </a:xfrm>
          <a:prstGeom prst="line">
            <a:avLst/>
          </a:prstGeom>
          <a:noFill/>
          <a:ln w="12700">
            <a:solidFill>
              <a:srgbClr val="E5E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6908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26 · macOS 26 Tahoe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shipped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286000"/>
            <a:ext cx="37033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286000"/>
            <a:ext cx="3703320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 Silica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AI APIs (.NET)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931920"/>
            <a:ext cx="3154680" cy="0"/>
          </a:xfrm>
          <a:prstGeom prst="line">
            <a:avLst/>
          </a:prstGeom>
          <a:noFill/>
          <a:ln w="12700">
            <a:solidFill>
              <a:srgbClr val="E5E1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06908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Copilot+ PCs · NPU-accelerated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· rewrite · generate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54406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maui-labs PR #178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2286000"/>
            <a:ext cx="37033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286000"/>
            <a:ext cx="3703320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2926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Kit + Gemini Nano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0392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Kit (Kotlin/Java)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3931920"/>
            <a:ext cx="3154680" cy="0"/>
          </a:xfrm>
          <a:prstGeom prst="line">
            <a:avLst/>
          </a:prstGeom>
          <a:noFill/>
          <a:ln w="12700">
            <a:solidFill>
              <a:srgbClr val="E5E1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06908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AICore service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Gemini Nano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· proofread · rewrite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54406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.NET wrapper under investigation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0F0A2E"/>
          </a:solidFill>
          <a:ln w="12700">
            <a:solidFill>
              <a:srgbClr val="0F0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for .NET MAUI:  </a:t>
            </a:r>
            <a:pPr algn="ct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Microsoft.Maui.Essentials.AI</a:t>
            </a:r>
            <a:pPr algn="ctr" indent="0" marL="0">
              <a:buNone/>
            </a:pPr>
            <a:r>
              <a:rPr lang="en-US" sz="13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one IChatClient shape, Apple today · Phi Silica in progress · Gemini under investigation</a:t>
            </a:r>
            <a:endParaRPr lang="en-US" sz="13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on the Edge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 running 100% on this Mac — no network, no key, no bill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6858000" cy="3108960"/>
          </a:xfrm>
          <a:prstGeom prst="roundRect">
            <a:avLst>
              <a:gd name="adj" fmla="val 2941"/>
            </a:avLst>
          </a:prstGeom>
          <a:solidFill>
            <a:srgbClr val="1E1B4B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83280"/>
            <a:ext cx="6492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Maui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Essentials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IChatClient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 </a:t>
            </a:r>
            <a:pPr indent="0" marL="0">
              <a:buNone/>
            </a:pPr>
            <a:r>
              <a:rPr lang="en-US" sz="12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AppleIntelligenceChatClient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 </a:t>
            </a:r>
            <a:pPr indent="0" marL="0">
              <a:buNone/>
            </a:pPr>
            <a:r>
              <a:rPr lang="en-US" sz="12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GetResponseAsync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 the agenda for today."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Works in airplane mode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API key, no per-token cost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never leaves the device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0" y="364845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94192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first token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94192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round-trip — sub-second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720" y="428853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4192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mode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94192" y="4526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— still works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6720" y="492861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94192" y="4892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but capable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94192" y="5166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~3B params on the NPU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0" y="556869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94192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94192" y="5806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context · narrow skills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THE PRACTICAL MIDDLE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own local model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forgotten tier — cloud-class capability with local-class privacy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703320" cy="39319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14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 Local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Cloud-grade LLMs, local host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runtime for running Phi, Llama, Qwen and friends on the user's box. .NET-friendly, ONNX-backed, GPU/NPU accelerated.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703320" cy="39319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514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514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Runtime GenAI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your own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402336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C# / native inference. Bring any ONNX-converted model — tiny custom classifiers to multi-billion-param LLMs.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2286000"/>
            <a:ext cx="3703320" cy="39319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2514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514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UNDERRATED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2971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Bespoke Models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0392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for the task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02336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50MB classifier beats a 3B LLM. Embeddings, intent detection, structured extraction — fast, cheap, embarrassingly good.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Big Brain, Locally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 hosting a Phi-class LLM on this laptop — OpenAI-compatible endpoint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6858000" cy="3108960"/>
          </a:xfrm>
          <a:prstGeom prst="roundRect">
            <a:avLst>
              <a:gd name="adj" fmla="val 2941"/>
            </a:avLst>
          </a:prstGeom>
          <a:solidFill>
            <a:srgbClr val="1E1B4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83280"/>
            <a:ext cx="6492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a local model from the CLI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foundry model run phi-4-mini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Foundry Local exposes an OpenAI-compatible endpoint —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SDK you'd use against the cloud, different URL.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IChatClient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"phi-4-mini"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ApiKeyCredential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"not-used"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Endpoint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"http://localhost:5273/v1"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AsIChatClient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0" y="364845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94192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reasoning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94192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Multi-billion-param model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720" y="428853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4192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device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94192" y="4526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egress, no API key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6720" y="492861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94192" y="4892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94192" y="5166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SDK, swap the URL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0" y="556869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94192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94192" y="5806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+ RAM + warm-up time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Agent Framework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programming model. Three tiers. Swap the brain — keep the code.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137160" cy="822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Local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· Phi Silica · Gemini Nano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37560"/>
            <a:ext cx="137160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Local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 · ONNX · custom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297680"/>
            <a:ext cx="137160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· Bedrock · Vertex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337560" y="2624328"/>
            <a:ext cx="365760" cy="329184"/>
          </a:xfrm>
          <a:prstGeom prst="right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3337560" y="3584448"/>
            <a:ext cx="365760" cy="329184"/>
          </a:xfrm>
          <a:prstGeom prst="right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3337560" y="4544568"/>
            <a:ext cx="365760" cy="329184"/>
          </a:xfrm>
          <a:prstGeom prst="right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2286000"/>
            <a:ext cx="5029200" cy="3063240"/>
          </a:xfrm>
          <a:prstGeom prst="roundRect">
            <a:avLst>
              <a:gd name="adj" fmla="val 4478"/>
            </a:avLst>
          </a:prstGeom>
          <a:solidFill>
            <a:srgbClr val="0F0A2E"/>
          </a:solidFill>
          <a:ln w="12700">
            <a:solidFill>
              <a:srgbClr val="0F0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560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AIAgent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84048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AgentSession  ·  Tools  ·  Workflows  ·  Streaming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3840480"/>
            <a:ext cx="3017520" cy="0"/>
          </a:xfrm>
          <a:prstGeom prst="line">
            <a:avLst/>
          </a:prstGeom>
          <a:noFill/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977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ChatClientAgent  ·  Workflow.AsAIAgent()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FunctionInvokingChatClient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Microsoft.Agents.AI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235440" y="2404872"/>
            <a:ext cx="182880" cy="1828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233172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09760" y="2651760"/>
            <a:ext cx="2224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IChatClient, keep your agent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35440" y="3118104"/>
            <a:ext cx="182880" cy="1828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3044952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09760" y="3364992"/>
            <a:ext cx="2224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AgentSession persists conversation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35440" y="3831336"/>
            <a:ext cx="182880" cy="1828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3758184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Tool-aware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509760" y="4078224"/>
            <a:ext cx="2224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Source-generated AITools (no reflection)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35440" y="4544568"/>
            <a:ext cx="182880" cy="1828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4471416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509760" y="4791456"/>
            <a:ext cx="2224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via IAsyncEnumerable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📐 The provider changes. The agent code does not.</a:t>
            </a:r>
            <a:endParaRPr lang="en-US" sz="20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3429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0"/>
            <a:ext cx="365760" cy="3429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Workflow of Agents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workflows compose agents — local privacy on the bookends, cloud reasoning in the middle.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82735" y="2377440"/>
            <a:ext cx="2651760" cy="685800"/>
          </a:xfrm>
          <a:prstGeom prst="roundRect">
            <a:avLst>
              <a:gd name="adj" fmla="val 24000"/>
            </a:avLst>
          </a:prstGeom>
          <a:solidFill>
            <a:srgbClr val="1E1B4B"/>
          </a:solidFill>
          <a:ln w="25400">
            <a:solidFill>
              <a:srgbClr val="CFCB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65615" y="25283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59975" y="2468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859975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may have PII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408615" y="3108960"/>
            <a:ext cx="0" cy="22860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0317175" y="3337560"/>
            <a:ext cx="182880" cy="164592"/>
          </a:xfrm>
          <a:prstGeom prst="triangl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82735" y="3474720"/>
            <a:ext cx="2651760" cy="685800"/>
          </a:xfrm>
          <a:prstGeom prst="roundRect">
            <a:avLst>
              <a:gd name="adj" fmla="val 24000"/>
            </a:avLst>
          </a:prstGeom>
          <a:solidFill>
            <a:srgbClr val="1E1B4B"/>
          </a:solidFill>
          <a:ln w="25400">
            <a:solidFill>
              <a:srgbClr val="FB718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65615" y="362559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59975" y="3566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859975" y="3840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408615" y="4206240"/>
            <a:ext cx="0" cy="22860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 flipV="1">
            <a:off x="10317175" y="4434840"/>
            <a:ext cx="182880" cy="164592"/>
          </a:xfrm>
          <a:prstGeom prst="triangl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082735" y="4572000"/>
            <a:ext cx="2651760" cy="685800"/>
          </a:xfrm>
          <a:prstGeom prst="roundRect">
            <a:avLst>
              <a:gd name="adj" fmla="val 24000"/>
            </a:avLst>
          </a:prstGeom>
          <a:solidFill>
            <a:srgbClr val="1E1B4B"/>
          </a:solidFill>
          <a:ln w="25400">
            <a:solidFill>
              <a:srgbClr val="6366F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5615" y="472287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59975" y="4663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859975" y="4937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0408615" y="5303520"/>
            <a:ext cx="0" cy="22860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 flipV="1">
            <a:off x="10317175" y="5532120"/>
            <a:ext cx="182880" cy="164592"/>
          </a:xfrm>
          <a:prstGeom prst="triangl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82735" y="5669280"/>
            <a:ext cx="2651760" cy="685800"/>
          </a:xfrm>
          <a:prstGeom prst="roundRect">
            <a:avLst>
              <a:gd name="adj" fmla="val 24000"/>
            </a:avLst>
          </a:prstGeom>
          <a:solidFill>
            <a:srgbClr val="1E1B4B"/>
          </a:solidFill>
          <a:ln w="25400">
            <a:solidFill>
              <a:srgbClr val="CFCBE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65615" y="582015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859975" y="5760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answer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859975" y="6035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sanitised reply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22960" y="2377440"/>
            <a:ext cx="7985455" cy="4114800"/>
          </a:xfrm>
          <a:prstGeom prst="roundRect">
            <a:avLst>
              <a:gd name="adj" fmla="val 2222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51560" y="2542032"/>
            <a:ext cx="752825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Local — Apple Intelligence, on the device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triage </a:t>
            </a:r>
            <a:pPr indent="0" marL="0">
              <a:buNone/>
            </a:pPr>
            <a:r>
              <a:rPr lang="en-US" sz="12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AppleIntelligenceChatClient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AsAIAgent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"triage"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"Strip personal info. Return only topic + intent."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Cloud — Azure OpenAI, frontier reasoning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expert </a:t>
            </a:r>
            <a:pPr indent="0" marL="0">
              <a:buNone/>
            </a:pPr>
            <a:r>
              <a:rPr lang="en-US" sz="12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AzureOpenAIClient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DefaultAzureCredential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GetChatClient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"gpt-4.1"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AsIChatClient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AsAIAgent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"expert"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"Answer with depth and current context."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MAF workflow — pipe local → cloud, expose as an agent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workflow </a:t>
            </a:r>
            <a:pPr indent="0" marL="0">
              <a:buNone/>
            </a:pPr>
            <a:r>
              <a:rPr lang="en-US" sz="12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AgentWorkflowBuilder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BuildSequential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"local-then-cloud"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triage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expert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AsAIAgent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"local-then-cloud"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"Private triage → cloud expert."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update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workflow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RunStreamingAsync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userInput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Console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your agent hands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 a C# method. The source generator turns it into an AI-callable tool — strongly typed, DI-aware, AOT-safe.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7315200" cy="4023360"/>
          </a:xfrm>
          <a:prstGeom prst="roundRect">
            <a:avLst>
              <a:gd name="adj" fmla="val 272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Decorate any method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Params get [Description], DI gets [FromServices]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TravelTools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"Searches restaurants in a city."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ExportAIFunction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"search_restaurants"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SearchRestaurants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city"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FromServices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IChatClient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Source generator builds a context class for you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AIToolSource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TravelTools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TravelToolContext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AIToolContext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Hand the tools to any agent — same pattern, every tier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 </a:t>
            </a:r>
            <a:pPr indent="0" marL="0">
              <a:buNone/>
            </a:pPr>
            <a:r>
              <a:rPr lang="en-US" sz="12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chatClient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AsAIAgent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travel guide."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TravelToolContext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92440" y="2286000"/>
            <a:ext cx="36420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2468880"/>
            <a:ext cx="502920" cy="5029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15400" y="242316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15400" y="2743200"/>
            <a:ext cx="2727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Source-gen, no reflection — AOT-safe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92440" y="3291840"/>
            <a:ext cx="36420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347472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15400" y="342900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DI-aware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15400" y="3749040"/>
            <a:ext cx="2727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[FromServices] injects per call — keep tools static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4297680"/>
            <a:ext cx="36420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448056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15400" y="443484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15400" y="4754880"/>
            <a:ext cx="2727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ApprovalRequiredAIFunction → human-in-loop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92440" y="5303520"/>
            <a:ext cx="36420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5486400"/>
            <a:ext cx="502920" cy="5029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15400" y="544068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15400" y="5760720"/>
            <a:ext cx="2727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· file search · code interpreter · MCP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PROVIDERS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and memory, one plug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AIContextProviders is the slot where knowledge meets the model — vector search, long-term memory, dynamic instructions.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7315200" cy="4023360"/>
          </a:xfrm>
          <a:prstGeom prst="roundRect">
            <a:avLst>
              <a:gd name="adj" fmla="val 272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IVectorStore from Microsoft.Extensions.VectorData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InMemoryVectorStore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chatClient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AsAIAgent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ChatClientAgentOptions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AIContextProviders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RAG — pull the top-k chunks before each model call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TextSearchProvider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hits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SearchAsync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topK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hits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TextSearchProvider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TextSearchResult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SourceName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 </a:t>
            </a:r>
            <a:pPr indent="0" marL="0">
              <a:buNone/>
            </a:pPr>
            <a:r>
              <a:rPr lang="en-US" sz="1100" dirty="0">
                <a:solidFill>
                  <a:srgbClr val="CFCB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i="1" dirty="0">
                <a:solidFill>
                  <a:srgbClr val="8B8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Memory — semantic recall across past sessions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ChatHistoryMemoryProvider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"chathistory"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3072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B8B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92440" y="2286000"/>
            <a:ext cx="36420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2468880"/>
            <a:ext cx="502920" cy="5029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2188" y="25557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15400" y="242316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built 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15400" y="2743200"/>
            <a:ext cx="2727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TextSearchProvider injects context every turn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92440" y="3291840"/>
            <a:ext cx="36420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75320" y="347472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2188" y="35615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15400" y="342900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915400" y="3749040"/>
            <a:ext cx="2727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similar past chats — across sessions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2440" y="4297680"/>
            <a:ext cx="36420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75320" y="448056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2188" y="45674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15400" y="443484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backend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915400" y="4754880"/>
            <a:ext cx="2727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 · Azure AI Search · Cosmos · Qdrant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0" y="5303520"/>
            <a:ext cx="36420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75320" y="5486400"/>
            <a:ext cx="502920" cy="5029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2188" y="557326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15400" y="544068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915400" y="5760720"/>
            <a:ext cx="2727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agent.SerializeSession(s) → ship to SQLite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Standing on the shoulders of maui-labs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saw runs on experimental packages from github.com/dotnet/maui-labs — try them, file issues, send PRs.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137160" cy="17373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Microsoft.Maui.Essentials.AI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11.0.0-preview.4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Apple Intelligence as a standard IChatClient — same code path as your cloud client. No key, no cloud, works offline.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24028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240280"/>
            <a:ext cx="137160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42316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Microsoft.Maui.AI.Attributes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834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0.1.0-preview.10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320040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generator: decorate a C# method with [ExportAIFunction] and it becomes a strongly-typed AI tool. AOT-safe, zero reflection.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60520"/>
            <a:ext cx="137160" cy="1737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434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 Silica  ·  PR #178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 in flight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512064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the same IChatClient wrapper to Windows Copilot+ PCs via Windows AI APIs. Adds Phi Silica as another local provider.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416052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4160520"/>
            <a:ext cx="137160" cy="17373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3434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Microsoft.Maui.DevFlow.Agent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7548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0.1.0-preview.10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512064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Playwright-for-MAUI + MCP server. AI agents (Copilot, Claude) can drive the live app — this entire app was built that way.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github.com/dotnet/maui-labs</a:t>
            </a:r>
            <a:endParaRPr lang="en-US" sz="15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THUMB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choice. Your code stays the same.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right answer — pick the tier that fits the task, and let MAF handle the rest.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1004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410048" cy="1645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Local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it on the device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3685032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61188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non-negotiable</a:t>
            </a:r>
            <a:pPr indent="0" marL="0">
              <a:buNone/>
            </a:pPr>
            <a:r>
              <a:rPr lang="en-US" sz="130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Local · BYO Local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187952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11480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poor network</a:t>
            </a:r>
            <a:pPr indent="0" marL="0">
              <a:buNone/>
            </a:pPr>
            <a:r>
              <a:rPr lang="en-US" sz="130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Local · BYO Local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690872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61772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first token</a:t>
            </a:r>
            <a:pPr indent="0" marL="0">
              <a:buNone/>
            </a:pPr>
            <a:r>
              <a:rPr lang="en-US" sz="130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Local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5193792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12064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matters at scale</a:t>
            </a:r>
            <a:pPr indent="0" marL="0">
              <a:buNone/>
            </a:pPr>
            <a:r>
              <a:rPr lang="en-US" sz="130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pre/post-roll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2331720"/>
            <a:ext cx="541004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3008" y="2331720"/>
            <a:ext cx="5410048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7328" y="2651760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Cloud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07328" y="2971800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frontier brain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53048" y="368503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7368" y="361188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deep reasoning</a:t>
            </a:r>
            <a:pPr indent="0" marL="0">
              <a:buNone/>
            </a:pPr>
            <a:r>
              <a:rPr lang="en-US" sz="130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53048" y="418795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7368" y="411480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context · multimodal</a:t>
            </a:r>
            <a:pPr indent="0" marL="0">
              <a:buNone/>
            </a:pPr>
            <a:r>
              <a:rPr lang="en-US" sz="130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53048" y="469087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7368" y="461772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requiring web data</a:t>
            </a:r>
            <a:pPr indent="0" marL="0">
              <a:buNone/>
            </a:pPr>
            <a:r>
              <a:rPr lang="en-US" sz="130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53048" y="519379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7368" y="512064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capability, no egress</a:t>
            </a:r>
            <a:pPr indent="0" marL="0">
              <a:buNone/>
            </a:pPr>
            <a:r>
              <a:rPr lang="en-US" sz="130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Local (Foundry Local)</a:t>
            </a:r>
            <a:endParaRPr lang="en-US" sz="13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0" y="5870448"/>
            <a:ext cx="310896" cy="31089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240280" y="585216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Hand-off pattern:  local triage  →  cloud reasoning  →  local rendering</a:t>
            </a:r>
            <a:endParaRPr lang="en-US" sz="16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go next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these — the deck, the demos, and the docs that back every claim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109728" cy="13258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deck + demo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github.com/mattleibow/cptmsdug-local-cloud-agent-framework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315468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MAUI app, web DevUI app, and orchestration samples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228600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2286000"/>
            <a:ext cx="109728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160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10248" y="242316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10248" y="278892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github.com/microsoft/agent-framework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10248" y="315468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AIAgent · AgentSession · workflows · DevUI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49040"/>
            <a:ext cx="109728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388620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Microsoft.Extensions.AI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25196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learn.microsoft.com/dotnet/ai/microsoft-extensions-ai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461772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IChatClient abstraction MAF builds 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3008" y="374904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3749040"/>
            <a:ext cx="109728" cy="13258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1608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10248" y="388620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maui-labs (Essentials.AI · AI.Attributes · DevFlow)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10248" y="425196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github.com/dotnet/maui-labs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10248" y="461772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 wrapper, source-gen tools, AI-driven app debugging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12080"/>
            <a:ext cx="109728" cy="1325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▣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25880" y="534924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571500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github.com/microsoft/Foundry-Local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25880" y="60807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Cloud-grade LLMs running on your laptop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33008" y="521208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3008" y="5212080"/>
            <a:ext cx="109728" cy="1325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1608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▣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010248" y="534924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FoundationModels  ·  Windows AI APIs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10248" y="571500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developer.apple.com/documentation/foundationmodels  ·  learn.microsoft.com/windows/ai/apis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10248" y="60807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platforms — straight from the source</a:t>
            </a:r>
            <a:endParaRPr lang="en-US" sz="11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0015" y="502920"/>
            <a:ext cx="329184" cy="329184"/>
          </a:xfrm>
          <a:prstGeom prst="rect">
            <a:avLst/>
          </a:prstGeom>
        </p:spPr>
      </p:pic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4063" y="502920"/>
            <a:ext cx="329184" cy="329184"/>
          </a:xfrm>
          <a:prstGeom prst="rect">
            <a:avLst/>
          </a:prstGeom>
        </p:spPr>
      </p:pic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111" y="502920"/>
            <a:ext cx="329184" cy="329184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Local and Cloud AI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pPr algn="l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@CPTMSDUG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594360"/>
            <a:ext cx="1051560" cy="10515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5960" y="713232"/>
            <a:ext cx="868680" cy="868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080" y="64008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22960" y="2377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AF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1000" dirty="0"/>
          </a:p>
        </p:txBody>
      </p:sp>
      <p:sp>
        <p:nvSpPr>
          <p:cNvPr id="7" name="Text 2"/>
          <p:cNvSpPr/>
          <p:nvPr/>
        </p:nvSpPr>
        <p:spPr>
          <a:xfrm>
            <a:off x="822960" y="3749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8" name="Text 3"/>
          <p:cNvSpPr/>
          <p:nvPr/>
        </p:nvSpPr>
        <p:spPr>
          <a:xfrm>
            <a:off x="82296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Leibowitz</a:t>
            </a:r>
            <a:pPr indent="0" marL="0">
              <a:buNone/>
            </a:pPr>
            <a:r>
              <a:rPr lang="en-US" sz="1600" dirty="0">
                <a:solidFill>
                  <a:srgbClr val="CFC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Software Engineer @ Microsoft   ·   </a:t>
            </a:r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@mattleibow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github.com/mattleibow/cptmsdug-local-cloud-agent-framework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Unifying Local and Cloud AI with Microsoft Agent Framework</dc:title>
  <dc:subject>Cape Town MS Developer User Group</dc:subject>
  <dc:creator>Matthew Leibowitz</dc:creator>
  <cp:lastModifiedBy>Matthew Leibowitz</cp:lastModifiedBy>
  <cp:revision>1</cp:revision>
  <dcterms:created xsi:type="dcterms:W3CDTF">2026-05-27T13:29:41Z</dcterms:created>
  <dcterms:modified xsi:type="dcterms:W3CDTF">2026-05-27T13:29:41Z</dcterms:modified>
</cp:coreProperties>
</file>